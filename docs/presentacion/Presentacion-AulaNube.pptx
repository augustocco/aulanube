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70f66ebf-6fa0-0b6d-5134-8089e5210faf}">
          <p14:sldIdLst>
            <p14:sldId id="256"/>
          </p14:sldIdLst>
        </p14:section>
        <p14:section name="Problema y requisitos" id="{cc82b6dc-8046-d6ed-f5eb-1e4129bf91d5}">
          <p14:sldIdLst>
            <p14:sldId id="257"/>
            <p14:sldId id="258"/>
          </p14:sldIdLst>
        </p14:section>
        <p14:section name="Arquitectura" id="{1d1f6d82-e534-6516-3cd4-8d2951d580d2}">
          <p14:sldIdLst>
            <p14:sldId id="259"/>
            <p14:sldId id="260"/>
          </p14:sldIdLst>
        </p14:section>
        <p14:section name="UML" id="{ab882935-b1a6-27da-595b-c83ae380f22b}">
          <p14:sldIdLst>
            <p14:sldId id="261"/>
            <p14:sldId id="262"/>
            <p14:sldId id="263"/>
          </p14:sldIdLst>
        </p14:section>
        <p14:section name="Patrones" id="{854e86cc-456c-614a-7059-851915a85486}">
          <p14:sldIdLst>
            <p14:sldId id="264"/>
          </p14:sldIdLst>
        </p14:section>
        <p14:section name="Demostración" id="{e8d2222e-b0f6-2b51-d9a8-ead20cffc692}">
          <p14:sldIdLst>
            <p14:sldId id="265"/>
          </p14:sldIdLst>
        </p14:section>
        <p14:section name="Cierre" id="{3e1658e8-ff7c-d044-551d-469d2725c8a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Buenas. Soy Augusto César Cañola Ortiz. En los próximos quince minutos voy a presentar la arquitectura que diseñé para CapacitaPro, una empresa que vende capacitación virtual obligatoria a otras empresas: el problema, los requisitos, los diagramas UML, los patrones que elegí y, al final, el prototipo funcionando en Oracle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[0:45–2:00]
El caso: CapacitaPro tiene 38 clientes y a cada uno le instala su propio WordPress. Eso tuvo tres consecuencias. Primero, cuando una constructora cerró su campaña de trabajo en alturas, 1.100 trabajadores terminaron el curso el mismo día y el servidor se cayó 40 minutos, llevándose a otros siete clientes. Segundo, el certificado y el correo se generan mientras el usuario espera, así que terminar un curso tarda hasta 25 segundos. Tercero, cada actualización se hace 38 veces.
Lo que pide la gerencia es una plataforma multiempresa que absorba esos picos, que una falla no tumbe todo y que funcione con bajo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[2:00–3:15]
Para el análisis usé análisis documental del caso, una entrevista simulada con tres interesados, historias de usuario y priorización MoSCoW. Salieron 14 requisitos funcionales.
Lo más importante fue escribir los no funcionales como escenarios medibles, no como adjetivos. No digo «debe ser escalable», digo: si 150 personas terminan el curso en el mismo minuto, la respuesta tarda menos de un segundo y no se pierde ningún certificado. Estos cuatro escenarios son los que más pesaron en las decisiones de arquitectura y, al final, los voy a comprobar con mediciones.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[3:15–4:30]
Elegí microservicios con comunicación híbrida. Lo que el estudiante consulta, como el catálogo o su avance, va por REST y responde de inmediato. Lo que puede pasar después, generar el PDF y avisar, va por eventos en Redis Streams.
Consideré un monolito modular, que es más simple, pero escala y falla como una sola pieza, y ese es justamente el problema de CapacitaPro. Hay cinco componentes: un API Gateway como única entrada y cuatro servicios —identidad, cursos, certificados y notificaciones—, cada uno con su propia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[4:30–5:15]
Esto conecta con la teoría de la unidad. Alta cohesión: cada servicio hace una sola cosa del dominio. Bajo acoplamiento: ningún servicio llama a otro; cursos solo publica un evento y no sabe quién lo consume, así que mañana se puede agregar facturación sin tocarlo. Y ocultamiento de información, de Parnas: la base de datos de cada servicio es un detalle interno. De hecho, durante el proyecto reorganicé los flujos de eventos y solo tuve que tocar dos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[5:15–6:30]
Paso a UML. En casos de uso hay cuatro actores: estudiante, administrador de la empresa, un verificador externo sin cuenta y el propio sistema. El detalle clave es que «Emitir certificado» lo dispara un evento, no una persona. Eso me indicó desde el principio que la emisión debía ser asíncrona.
En el diagrama de clases cada paquete es un servicio con su base. Fíjense en que ninguna asociación cruza paquetes: entre servicios solo hay identificadores lógicos o eventos. Y las restricciones de unicidad en certificado y notificación son las que hacen que un evento repetido no genere duplicados.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[6:30–7:30]
El diagrama de secuencia muestra el escenario que resuelve el problema del caso. Cuando el estudiante marca la última lección, cursos guarda el avance y el evento «curso.completado» en la misma transacción —es el patrón Outbox— y responde enseguida. En segundo plano, un hilo publica el evento en Redis. Los grupos de certificados y notificaciones lo reciben en paralelo; el trabajador genera el PDF y publica a su vez «certificado.emitido», que notificaciones convierte en el aviso. El usuario ya no espera por el PDF ni por el correo.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[7:30–8:30]
El despliegue: dos máquinas virtuales Ampere A1 de Oracle Cloud en Bogotá, con un clúster K3s, todo dentro de la capa Always Free. Traefik recibe el tráfico HTTPS con certificado de Let's Encrypt. La web y el gateway tienen una réplica en cada nodo, así que si cae una máquina la entrada sigue viva. Certificados escala de 2 a 4 réplicas por CPU. Y las políticas de red solo permiten el camino web, gateway, servicios, datos: un pod que no sea el gateway no puede hablar con los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[8:30–10:00]
Cada patrón responde a un escenario. API Gateway: una sola entrada que valida el token y borra cualquier cabecera de identidad que mande el cliente. Database per Service para el desacoplamiento. Publicador-suscriptor con un flujo de Redis por publicador. Outbox para que ningún evento se pierda si Redis falla. Para los cierres de campaña, nivelación de carga con cola más consumidores en competencia: la campaña responde 202 al instante y varias réplicas reparten el trabajo. Circuit breaker: tras tres fallos seguidos el gateway deja de llamar al servicio caído durante 15 segundos. Y un límite de solicitudes por empresa, para que un cliente no acapare la plataforma.
Descarté Saga y CQRS porque ningún flujo los necesita, y un service mesh porque no cabe en nodos de una sola OCPU.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[10:00–13:00 · DEMOSTRACIÓN]
1. Ingresar como Carlos (estudiante de Constructora Los Andes). Abrir «Inducción al SG-SST» (si ya está completo, usar otra cuenta de estudiante, por ejemplo yesenia@andes.demo), marcar las lecciones. Mostrar el aviso «su certificado está en camino», ir a Certificados, descargar el PDF y abrir «Verificar» para mostrar la verificación pública.
2. Salir e ingresar como Laura (administradora). En Gestión, lanzar una campaña de 200 participantes. Mostrar que respondió al instante e ir a Arquitectura: la cola de «certificados» sube y baja mientras dos trabajadores la procesan. En Certificados, la columna Trabajador muestra qué réplica emitió cada uno.
3. En una terminal: kubectl -n aulanube scale deploy certificados --replicas=0. Refrescar Certificados tres o cuatro veces: después del tercer fallo responde de inmediato con «circuito abierto». El panel muestra Certificados en rojo y los demás en verde; Cursos sigue funcionando.
4. Con certificados apagado, completar un curso con otro estudiante. Luego: kubectl -n aulanube scale deploy certificados --replicas=2. En unos segundos aparece el certificado: el evento esperó en Redis.
Plan B si falla la red: mostrar las capturas del informe (figuras 11 y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[13:00–14:00]
Vuelvo a los escenarios del principio, ahora con números medidos en la nube. Una campaña masiva responde en menos de 200 milisegundos y los 200 certificados se emitieron sin errores. Con el servicio de certificados caído, el gateway responde en 110 milisegundos en lugar de quedarse esperando. No se perdió ningún certificado con el trabajador apagado. Y hay 28 pruebas automatizadas que pasan tanto en x86 como en los nodos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[14:00–15:00]
Para cerrar: los problemas de CapacitaPro eran de arquitectura, no de código. Cambié la estructura y los síntomas desaparecieron sin optimizar la lógica de negocio. Escribir los requisitos como escenarios medibles me permitió elegir los patrones con criterio y comprobarlos. Los principios de la unidad se volvieron decisiones concretas. Y aprendí que la asincronía tiene un costo que hay que hacer explícito.
El código, el informe y los diagramas están en el repositorio, y la plataforma sigue publicada en la dirección que ven en pantalla.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514600"/>
            <a:ext cx="749808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148840"/>
            <a:ext cx="8046720" cy="5486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900" dirty="0">
                <a:solidFill>
                  <a:schemeClr val="accent5"/>
                </a:solidFill>
              </a:rPr>
              <a:t>AulaNube · Arquitectura de Software</a:t>
            </a:r>
            <a:endParaRPr lang="en-US" sz="9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rPr>
              <a:t>AulaNube</a:t>
            </a:r>
            <a:endParaRPr lang="en-US" sz="4800" dirty="0"/>
          </a:p>
        </p:txBody>
      </p:sp>
      <p:sp>
        <p:nvSpPr>
          <p:cNvPr id="3" name="Text 0"/>
          <p:cNvSpPr/>
          <p:nvPr>
            <p:ph idx="101" type="body" hasCustomPrompt="1"/>
          </p:nvPr>
        </p:nvSpPr>
        <p:spPr>
          <a:xfrm>
            <a:off x="548640" y="2514600"/>
            <a:ext cx="7498080" cy="914400"/>
          </a:xfrm>
          <a:prstGeom prst="rect">
            <a:avLst/>
          </a:prstGeom>
          <a:noFill/>
          <a:ln/>
        </p:spPr>
        <p:txBody>
          <a:bodyPr wrap="square" lIns="0" tIns="0" rIns="0" bIns="0" rtlCol="0" anchor="t"/>
          <a:lstStyle/>
          <a:p>
            <a:pPr indent="0" marL="0">
              <a:buNone/>
            </a:pPr>
            <a:r>
              <a:rPr lang="en-US" sz="1800" dirty="0">
                <a:solidFill>
                  <a:schemeClr val="accent6"/>
                </a:solidFill>
              </a:rPr>
              <a:t>Arquitectura de microservicios en la nube para la capacitación corporativa de CapacitaPro S.A.S.</a:t>
            </a:r>
            <a:endParaRPr lang="en-US" sz="1800" dirty="0"/>
          </a:p>
        </p:txBody>
      </p:sp>
      <p:sp>
        <p:nvSpPr>
          <p:cNvPr id="4" name="curso"/>
          <p:cNvSpPr txBox="1"/>
          <p:nvPr/>
        </p:nvSpPr>
        <p:spPr>
          <a:xfrm>
            <a:off x="548640" y="457200"/>
            <a:ext cx="8046720" cy="320040"/>
          </a:xfrm>
          <a:prstGeom prst="rect">
            <a:avLst/>
          </a:prstGeom>
          <a:noFill/>
          <a:ln/>
        </p:spPr>
        <p:txBody>
          <a:bodyPr wrap="square" lIns="0" tIns="0" rIns="0" bIns="0" rtlCol="0" anchor="t"/>
          <a:lstStyle/>
          <a:p>
            <a:pPr indent="0" marL="0">
              <a:buNone/>
            </a:pPr>
            <a:r>
              <a:rPr lang="en-US" sz="1200" dirty="0">
                <a:solidFill>
                  <a:schemeClr val="accent6"/>
                </a:solidFill>
              </a:rPr>
              <a:t>Arquitectura de Software · Unidad 1 · «Orquestando Códigos: La Sinfonía de los Sistemas»</a:t>
            </a:r>
            <a:endParaRPr lang="en-US" sz="1200" dirty="0"/>
          </a:p>
        </p:txBody>
      </p:sp>
      <p:sp>
        <p:nvSpPr>
          <p:cNvPr id="5" name="integrantes"/>
          <p:cNvSpPr txBox="1"/>
          <p:nvPr/>
        </p:nvSpPr>
        <p:spPr>
          <a:xfrm>
            <a:off x="548640" y="3977640"/>
            <a:ext cx="8046720" cy="274320"/>
          </a:xfrm>
          <a:prstGeom prst="rect">
            <a:avLst/>
          </a:prstGeom>
          <a:noFill/>
          <a:ln/>
        </p:spPr>
        <p:txBody>
          <a:bodyPr wrap="square" lIns="0" tIns="0" rIns="0" bIns="0" rtlCol="0" anchor="t"/>
          <a:lstStyle/>
          <a:p>
            <a:pPr indent="0" marL="0">
              <a:buNone/>
            </a:pPr>
            <a:r>
              <a:rPr lang="en-US" sz="1300" dirty="0">
                <a:solidFill>
                  <a:schemeClr val="bg1"/>
                </a:solidFill>
              </a:rPr>
              <a:t>Augusto César Cañola Ortiz · Docente: [Nombre del docente]</a:t>
            </a:r>
            <a:endParaRPr lang="en-US" sz="1300" dirty="0"/>
          </a:p>
        </p:txBody>
      </p:sp>
      <p:sp>
        <p:nvSpPr>
          <p:cNvPr id="6" name="institucion"/>
          <p:cNvSpPr txBox="1"/>
          <p:nvPr/>
        </p:nvSpPr>
        <p:spPr>
          <a:xfrm>
            <a:off x="548640" y="4297680"/>
            <a:ext cx="8046720" cy="274320"/>
          </a:xfrm>
          <a:prstGeom prst="rect">
            <a:avLst/>
          </a:prstGeom>
          <a:noFill/>
          <a:ln/>
        </p:spPr>
        <p:txBody>
          <a:bodyPr wrap="square" lIns="0" tIns="0" rIns="0" bIns="0" rtlCol="0" anchor="t"/>
          <a:lstStyle/>
          <a:p>
            <a:pPr indent="0" marL="0">
              <a:buNone/>
            </a:pPr>
            <a:r>
              <a:rPr lang="en-US" sz="1200" dirty="0">
                <a:solidFill>
                  <a:schemeClr val="accent6"/>
                </a:solidFill>
              </a:rPr>
              <a:t>Tecnológica del Oriente ·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Una instalación por cliente ya no escala</a:t>
            </a:r>
            <a:endParaRPr lang="en-US" sz="3000" dirty="0"/>
          </a:p>
        </p:txBody>
      </p:sp>
      <p:sp>
        <p:nvSpPr>
          <p:cNvPr id="3" name="contexto"/>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500" dirty="0">
                <a:solidFill>
                  <a:schemeClr val="accent5"/>
                </a:solidFill>
              </a:rPr>
              <a:t>CapacitaPro atiende 38 empresas con un WordPress por cliente en cinco servidores.</a:t>
            </a:r>
            <a:endParaRPr lang="en-US" sz="1500" dirty="0"/>
          </a:p>
        </p:txBody>
      </p:sp>
      <p:sp>
        <p:nvSpPr>
          <p:cNvPr id="4" name="dato 1"/>
          <p:cNvSpPr/>
          <p:nvPr/>
        </p:nvSpPr>
        <p:spPr>
          <a:xfrm>
            <a:off x="457200" y="1600200"/>
            <a:ext cx="2606040" cy="2377440"/>
          </a:xfrm>
          <a:prstGeom prst="roundRect">
            <a:avLst>
              <a:gd name="adj" fmla="val 3077"/>
            </a:avLst>
          </a:prstGeom>
          <a:solidFill>
            <a:schemeClr val="bg2"/>
          </a:solidFill>
          <a:ln/>
        </p:spPr>
      </p:sp>
      <p:sp>
        <p:nvSpPr>
          <p:cNvPr id="5" name="cifra 1"/>
          <p:cNvSpPr txBox="1"/>
          <p:nvPr/>
        </p:nvSpPr>
        <p:spPr>
          <a:xfrm>
            <a:off x="685800" y="1783080"/>
            <a:ext cx="2194560" cy="822960"/>
          </a:xfrm>
          <a:prstGeom prst="rect">
            <a:avLst/>
          </a:prstGeom>
          <a:noFill/>
          <a:ln/>
        </p:spPr>
        <p:txBody>
          <a:bodyPr wrap="square" lIns="0" tIns="0" rIns="0" bIns="0" rtlCol="0" anchor="t"/>
          <a:lstStyle/>
          <a:p>
            <a:pPr indent="0" marL="0">
              <a:buNone/>
            </a:pPr>
            <a:r>
              <a:rPr lang="en-US" sz="4000" b="1" dirty="0">
                <a:solidFill>
                  <a:schemeClr val="accent3"/>
                </a:solidFill>
              </a:rPr>
              <a:t>40 min</a:t>
            </a:r>
            <a:endParaRPr lang="en-US" sz="4000" dirty="0"/>
          </a:p>
        </p:txBody>
      </p:sp>
      <p:sp>
        <p:nvSpPr>
          <p:cNvPr id="6" name="descripcion 1"/>
          <p:cNvSpPr txBox="1"/>
          <p:nvPr/>
        </p:nvSpPr>
        <p:spPr>
          <a:xfrm>
            <a:off x="685800" y="2697480"/>
            <a:ext cx="2194560" cy="1188720"/>
          </a:xfrm>
          <a:prstGeom prst="rect">
            <a:avLst/>
          </a:prstGeom>
          <a:noFill/>
          <a:ln/>
        </p:spPr>
        <p:txBody>
          <a:bodyPr wrap="square" lIns="0" tIns="0" rIns="0" bIns="0" rtlCol="0" anchor="t"/>
          <a:lstStyle/>
          <a:p>
            <a:pPr indent="0" marL="0">
              <a:buNone/>
            </a:pPr>
            <a:r>
              <a:rPr lang="en-US" sz="1400" dirty="0">
                <a:solidFill>
                  <a:schemeClr val="tx1"/>
                </a:solidFill>
              </a:rPr>
              <a:t>sin servicio por el cierre de una sola campaña, con siete clientes afectados</a:t>
            </a:r>
            <a:endParaRPr lang="en-US" sz="1400" dirty="0"/>
          </a:p>
        </p:txBody>
      </p:sp>
      <p:sp>
        <p:nvSpPr>
          <p:cNvPr id="7" name="dato 2"/>
          <p:cNvSpPr/>
          <p:nvPr/>
        </p:nvSpPr>
        <p:spPr>
          <a:xfrm>
            <a:off x="3246120" y="1600200"/>
            <a:ext cx="2606040" cy="2377440"/>
          </a:xfrm>
          <a:prstGeom prst="roundRect">
            <a:avLst>
              <a:gd name="adj" fmla="val 3077"/>
            </a:avLst>
          </a:prstGeom>
          <a:solidFill>
            <a:schemeClr val="bg2"/>
          </a:solidFill>
          <a:ln/>
        </p:spPr>
      </p:sp>
      <p:sp>
        <p:nvSpPr>
          <p:cNvPr id="8" name="cifra 2"/>
          <p:cNvSpPr txBox="1"/>
          <p:nvPr/>
        </p:nvSpPr>
        <p:spPr>
          <a:xfrm>
            <a:off x="3474720" y="1783080"/>
            <a:ext cx="2194560" cy="822960"/>
          </a:xfrm>
          <a:prstGeom prst="rect">
            <a:avLst/>
          </a:prstGeom>
          <a:noFill/>
          <a:ln/>
        </p:spPr>
        <p:txBody>
          <a:bodyPr wrap="square" lIns="0" tIns="0" rIns="0" bIns="0" rtlCol="0" anchor="t"/>
          <a:lstStyle/>
          <a:p>
            <a:pPr indent="0" marL="0">
              <a:buNone/>
            </a:pPr>
            <a:r>
              <a:rPr lang="en-US" sz="4000" b="1" dirty="0">
                <a:solidFill>
                  <a:schemeClr val="accent2"/>
                </a:solidFill>
              </a:rPr>
              <a:t>8–25 s</a:t>
            </a:r>
            <a:endParaRPr lang="en-US" sz="4000" dirty="0"/>
          </a:p>
        </p:txBody>
      </p:sp>
      <p:sp>
        <p:nvSpPr>
          <p:cNvPr id="9" name="descripcion 2"/>
          <p:cNvSpPr txBox="1"/>
          <p:nvPr/>
        </p:nvSpPr>
        <p:spPr>
          <a:xfrm>
            <a:off x="3474720" y="2697480"/>
            <a:ext cx="2194560" cy="1188720"/>
          </a:xfrm>
          <a:prstGeom prst="rect">
            <a:avLst/>
          </a:prstGeom>
          <a:noFill/>
          <a:ln/>
        </p:spPr>
        <p:txBody>
          <a:bodyPr wrap="square" lIns="0" tIns="0" rIns="0" bIns="0" rtlCol="0" anchor="t"/>
          <a:lstStyle/>
          <a:p>
            <a:pPr indent="0" marL="0">
              <a:buNone/>
            </a:pPr>
            <a:r>
              <a:rPr lang="en-US" sz="1400" dirty="0">
                <a:solidFill>
                  <a:schemeClr val="tx1"/>
                </a:solidFill>
              </a:rPr>
              <a:t>de espera al terminar un curso: el PDF y el correo se generan dentro de la solicitud</a:t>
            </a:r>
            <a:endParaRPr lang="en-US" sz="1400" dirty="0"/>
          </a:p>
        </p:txBody>
      </p:sp>
      <p:sp>
        <p:nvSpPr>
          <p:cNvPr id="10" name="dato 3"/>
          <p:cNvSpPr/>
          <p:nvPr/>
        </p:nvSpPr>
        <p:spPr>
          <a:xfrm>
            <a:off x="6035040" y="1600200"/>
            <a:ext cx="2606040" cy="2377440"/>
          </a:xfrm>
          <a:prstGeom prst="roundRect">
            <a:avLst>
              <a:gd name="adj" fmla="val 3077"/>
            </a:avLst>
          </a:prstGeom>
          <a:solidFill>
            <a:schemeClr val="bg2"/>
          </a:solidFill>
          <a:ln/>
        </p:spPr>
      </p:sp>
      <p:sp>
        <p:nvSpPr>
          <p:cNvPr id="11" name="cifra 3"/>
          <p:cNvSpPr txBox="1"/>
          <p:nvPr/>
        </p:nvSpPr>
        <p:spPr>
          <a:xfrm>
            <a:off x="6263640" y="1783080"/>
            <a:ext cx="2194560" cy="822960"/>
          </a:xfrm>
          <a:prstGeom prst="rect">
            <a:avLst/>
          </a:prstGeom>
          <a:noFill/>
          <a:ln/>
        </p:spPr>
        <p:txBody>
          <a:bodyPr wrap="square" lIns="0" tIns="0" rIns="0" bIns="0" rtlCol="0" anchor="t"/>
          <a:lstStyle/>
          <a:p>
            <a:pPr indent="0" marL="0">
              <a:buNone/>
            </a:pPr>
            <a:r>
              <a:rPr lang="en-US" sz="4000" b="1" dirty="0">
                <a:solidFill>
                  <a:schemeClr val="accent1"/>
                </a:solidFill>
              </a:rPr>
              <a:t>38 ×</a:t>
            </a:r>
            <a:endParaRPr lang="en-US" sz="4000" dirty="0"/>
          </a:p>
        </p:txBody>
      </p:sp>
      <p:sp>
        <p:nvSpPr>
          <p:cNvPr id="12" name="descripcion 3"/>
          <p:cNvSpPr txBox="1"/>
          <p:nvPr/>
        </p:nvSpPr>
        <p:spPr>
          <a:xfrm>
            <a:off x="6263640" y="2697480"/>
            <a:ext cx="2194560" cy="1188720"/>
          </a:xfrm>
          <a:prstGeom prst="rect">
            <a:avLst/>
          </a:prstGeom>
          <a:noFill/>
          <a:ln/>
        </p:spPr>
        <p:txBody>
          <a:bodyPr wrap="square" lIns="0" tIns="0" rIns="0" bIns="0" rtlCol="0" anchor="t"/>
          <a:lstStyle/>
          <a:p>
            <a:pPr indent="0" marL="0">
              <a:buNone/>
            </a:pPr>
            <a:r>
              <a:rPr lang="en-US" sz="1400" dirty="0">
                <a:solidFill>
                  <a:schemeClr val="tx1"/>
                </a:solidFill>
              </a:rPr>
              <a:t>cada actualización se aplica una vez por cliente; 40 % del tiempo del equipo técnico</a:t>
            </a:r>
            <a:endParaRPr lang="en-US" sz="1400" dirty="0"/>
          </a:p>
        </p:txBody>
      </p:sp>
      <p:sp>
        <p:nvSpPr>
          <p:cNvPr id="13" name="pedido"/>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500" i="1" dirty="0">
                <a:solidFill>
                  <a:schemeClr val="accent1"/>
                </a:solidFill>
              </a:rPr>
              <a:t>La gerencia pide una sola plataforma multiempresa que aguante los picos, aísle fallos y cueste poco.</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Requisitos expresados como escenarios medibles</a:t>
            </a:r>
            <a:endParaRPr lang="en-US" sz="3000" dirty="0"/>
          </a:p>
        </p:txBody>
      </p:sp>
      <p:sp>
        <p:nvSpPr>
          <p:cNvPr id="3" name="intro"/>
          <p:cNvSpPr txBox="1"/>
          <p:nvPr/>
        </p:nvSpPr>
        <p:spPr>
          <a:xfrm>
            <a:off x="457200" y="1005840"/>
            <a:ext cx="8229600" cy="502920"/>
          </a:xfrm>
          <a:prstGeom prst="rect">
            <a:avLst/>
          </a:prstGeom>
          <a:noFill/>
          <a:ln/>
        </p:spPr>
        <p:txBody>
          <a:bodyPr wrap="square" lIns="0" tIns="0" rIns="0" bIns="0" rtlCol="0" anchor="t"/>
          <a:lstStyle/>
          <a:p>
            <a:pPr indent="0" marL="0">
              <a:buNone/>
            </a:pPr>
            <a:r>
              <a:rPr lang="en-US" sz="1400" dirty="0">
                <a:solidFill>
                  <a:schemeClr val="accent5"/>
                </a:solidFill>
              </a:rPr>
              <a:t>14 requisitos funcionales en historias de usuario y 10 no funcionales como escenarios de calidad (Bass et al., 2012). Los que guían la arquitectura:</a:t>
            </a:r>
            <a:endParaRPr lang="en-US" sz="1400" dirty="0"/>
          </a:p>
        </p:txBody>
      </p:sp>
      <p:sp>
        <p:nvSpPr>
          <p:cNvPr id="4" name="rnf 01"/>
          <p:cNvSpPr/>
          <p:nvPr/>
        </p:nvSpPr>
        <p:spPr>
          <a:xfrm>
            <a:off x="457200" y="1691640"/>
            <a:ext cx="4023360" cy="1234440"/>
          </a:xfrm>
          <a:prstGeom prst="roundRect">
            <a:avLst>
              <a:gd name="adj" fmla="val 5926"/>
            </a:avLst>
          </a:prstGeom>
          <a:solidFill>
            <a:schemeClr val="bg2"/>
          </a:solidFill>
          <a:ln/>
        </p:spPr>
      </p:sp>
      <p:sp>
        <p:nvSpPr>
          <p:cNvPr id="5" name="insignia rnf 01"/>
          <p:cNvSpPr/>
          <p:nvPr/>
        </p:nvSpPr>
        <p:spPr>
          <a:xfrm>
            <a:off x="685800" y="1920240"/>
            <a:ext cx="502920" cy="502920"/>
          </a:xfrm>
          <a:prstGeom prst="ellipse">
            <a:avLst/>
          </a:prstGeom>
          <a:solidFill>
            <a:schemeClr val="accent1"/>
          </a:solidFill>
          <a:ln/>
        </p:spPr>
      </p:sp>
      <p:sp>
        <p:nvSpPr>
          <p:cNvPr id="6" name="insignia rnf 01 texto"/>
          <p:cNvSpPr txBox="1"/>
          <p:nvPr/>
        </p:nvSpPr>
        <p:spPr>
          <a:xfrm>
            <a:off x="685800" y="19202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7" name="titulo rnf 01"/>
          <p:cNvSpPr txBox="1"/>
          <p:nvPr/>
        </p:nvSpPr>
        <p:spPr>
          <a:xfrm>
            <a:off x="1371600" y="1874520"/>
            <a:ext cx="2971800" cy="320040"/>
          </a:xfrm>
          <a:prstGeom prst="rect">
            <a:avLst/>
          </a:prstGeom>
          <a:noFill/>
          <a:ln/>
        </p:spPr>
        <p:txBody>
          <a:bodyPr wrap="square" lIns="0" tIns="0" rIns="0" bIns="0" rtlCol="0" anchor="t"/>
          <a:lstStyle/>
          <a:p>
            <a:pPr indent="0" marL="0">
              <a:buNone/>
            </a:pPr>
            <a:r>
              <a:rPr lang="en-US" sz="1500" b="1" dirty="0">
                <a:solidFill>
                  <a:schemeClr val="tx1"/>
                </a:solidFill>
              </a:rPr>
              <a:t>RNF01 · Escalabilidad</a:t>
            </a:r>
            <a:endParaRPr lang="en-US" sz="1500" dirty="0"/>
          </a:p>
        </p:txBody>
      </p:sp>
      <p:sp>
        <p:nvSpPr>
          <p:cNvPr id="8" name="desc rnf 01"/>
          <p:cNvSpPr txBox="1"/>
          <p:nvPr/>
        </p:nvSpPr>
        <p:spPr>
          <a:xfrm>
            <a:off x="1371600" y="2221992"/>
            <a:ext cx="2971800" cy="640080"/>
          </a:xfrm>
          <a:prstGeom prst="rect">
            <a:avLst/>
          </a:prstGeom>
          <a:noFill/>
          <a:ln/>
        </p:spPr>
        <p:txBody>
          <a:bodyPr wrap="square" lIns="0" tIns="0" rIns="0" bIns="0" rtlCol="0" anchor="t"/>
          <a:lstStyle/>
          <a:p>
            <a:pPr indent="0" marL="0">
              <a:buNone/>
            </a:pPr>
            <a:r>
              <a:rPr lang="en-US" sz="1300" dirty="0">
                <a:solidFill>
                  <a:schemeClr val="tx1"/>
                </a:solidFill>
              </a:rPr>
              <a:t>150 cursos terminados en un minuto: respuesta &lt; 1 s, ningún certificado perdido</a:t>
            </a:r>
            <a:endParaRPr lang="en-US" sz="1300" dirty="0"/>
          </a:p>
        </p:txBody>
      </p:sp>
      <p:sp>
        <p:nvSpPr>
          <p:cNvPr id="9" name="rnf 03"/>
          <p:cNvSpPr/>
          <p:nvPr/>
        </p:nvSpPr>
        <p:spPr>
          <a:xfrm>
            <a:off x="4663440" y="1691640"/>
            <a:ext cx="4023360" cy="1234440"/>
          </a:xfrm>
          <a:prstGeom prst="roundRect">
            <a:avLst>
              <a:gd name="adj" fmla="val 5926"/>
            </a:avLst>
          </a:prstGeom>
          <a:solidFill>
            <a:schemeClr val="bg2"/>
          </a:solidFill>
          <a:ln/>
        </p:spPr>
      </p:sp>
      <p:sp>
        <p:nvSpPr>
          <p:cNvPr id="10" name="insignia rnf 03"/>
          <p:cNvSpPr/>
          <p:nvPr/>
        </p:nvSpPr>
        <p:spPr>
          <a:xfrm>
            <a:off x="4892040" y="1920240"/>
            <a:ext cx="502920" cy="502920"/>
          </a:xfrm>
          <a:prstGeom prst="ellipse">
            <a:avLst/>
          </a:prstGeom>
          <a:solidFill>
            <a:schemeClr val="accent1"/>
          </a:solidFill>
          <a:ln/>
        </p:spPr>
      </p:sp>
      <p:sp>
        <p:nvSpPr>
          <p:cNvPr id="11" name="insignia rnf 03 texto"/>
          <p:cNvSpPr txBox="1"/>
          <p:nvPr/>
        </p:nvSpPr>
        <p:spPr>
          <a:xfrm>
            <a:off x="4892040" y="19202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2" name="titulo rnf 03"/>
          <p:cNvSpPr txBox="1"/>
          <p:nvPr/>
        </p:nvSpPr>
        <p:spPr>
          <a:xfrm>
            <a:off x="5577840" y="1874520"/>
            <a:ext cx="2971800" cy="320040"/>
          </a:xfrm>
          <a:prstGeom prst="rect">
            <a:avLst/>
          </a:prstGeom>
          <a:noFill/>
          <a:ln/>
        </p:spPr>
        <p:txBody>
          <a:bodyPr wrap="square" lIns="0" tIns="0" rIns="0" bIns="0" rtlCol="0" anchor="t"/>
          <a:lstStyle/>
          <a:p>
            <a:pPr indent="0" marL="0">
              <a:buNone/>
            </a:pPr>
            <a:r>
              <a:rPr lang="en-US" sz="1500" b="1" dirty="0">
                <a:solidFill>
                  <a:schemeClr val="tx1"/>
                </a:solidFill>
              </a:rPr>
              <a:t>RNF03 · Disponibilidad</a:t>
            </a:r>
            <a:endParaRPr lang="en-US" sz="1500" dirty="0"/>
          </a:p>
        </p:txBody>
      </p:sp>
      <p:sp>
        <p:nvSpPr>
          <p:cNvPr id="13" name="desc rnf 03"/>
          <p:cNvSpPr txBox="1"/>
          <p:nvPr/>
        </p:nvSpPr>
        <p:spPr>
          <a:xfrm>
            <a:off x="5577840" y="2221992"/>
            <a:ext cx="2971800" cy="640080"/>
          </a:xfrm>
          <a:prstGeom prst="rect">
            <a:avLst/>
          </a:prstGeom>
          <a:noFill/>
          <a:ln/>
        </p:spPr>
        <p:txBody>
          <a:bodyPr wrap="square" lIns="0" tIns="0" rIns="0" bIns="0" rtlCol="0" anchor="t"/>
          <a:lstStyle/>
          <a:p>
            <a:pPr indent="0" marL="0">
              <a:buNone/>
            </a:pPr>
            <a:r>
              <a:rPr lang="en-US" sz="1300" dirty="0">
                <a:solidFill>
                  <a:schemeClr val="tx1"/>
                </a:solidFill>
              </a:rPr>
              <a:t>Si certificados cae, lo demás sigue y el gateway responde en &lt; 300 ms</a:t>
            </a:r>
            <a:endParaRPr lang="en-US" sz="1300" dirty="0"/>
          </a:p>
        </p:txBody>
      </p:sp>
      <p:sp>
        <p:nvSpPr>
          <p:cNvPr id="14" name="rnf 04"/>
          <p:cNvSpPr/>
          <p:nvPr/>
        </p:nvSpPr>
        <p:spPr>
          <a:xfrm>
            <a:off x="457200" y="3108960"/>
            <a:ext cx="4023360" cy="1234440"/>
          </a:xfrm>
          <a:prstGeom prst="roundRect">
            <a:avLst>
              <a:gd name="adj" fmla="val 5926"/>
            </a:avLst>
          </a:prstGeom>
          <a:solidFill>
            <a:schemeClr val="bg2"/>
          </a:solidFill>
          <a:ln/>
        </p:spPr>
      </p:sp>
      <p:sp>
        <p:nvSpPr>
          <p:cNvPr id="15" name="insignia rnf 04"/>
          <p:cNvSpPr/>
          <p:nvPr/>
        </p:nvSpPr>
        <p:spPr>
          <a:xfrm>
            <a:off x="685800" y="3337560"/>
            <a:ext cx="502920" cy="502920"/>
          </a:xfrm>
          <a:prstGeom prst="ellipse">
            <a:avLst/>
          </a:prstGeom>
          <a:solidFill>
            <a:schemeClr val="accent1"/>
          </a:solidFill>
          <a:ln/>
        </p:spPr>
      </p:sp>
      <p:sp>
        <p:nvSpPr>
          <p:cNvPr id="16" name="insignia rnf 04 texto"/>
          <p:cNvSpPr txBox="1"/>
          <p:nvPr/>
        </p:nvSpPr>
        <p:spPr>
          <a:xfrm>
            <a:off x="685800" y="33375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17" name="titulo rnf 04"/>
          <p:cNvSpPr txBox="1"/>
          <p:nvPr/>
        </p:nvSpPr>
        <p:spPr>
          <a:xfrm>
            <a:off x="1371600" y="3291840"/>
            <a:ext cx="2971800" cy="320040"/>
          </a:xfrm>
          <a:prstGeom prst="rect">
            <a:avLst/>
          </a:prstGeom>
          <a:noFill/>
          <a:ln/>
        </p:spPr>
        <p:txBody>
          <a:bodyPr wrap="square" lIns="0" tIns="0" rIns="0" bIns="0" rtlCol="0" anchor="t"/>
          <a:lstStyle/>
          <a:p>
            <a:pPr indent="0" marL="0">
              <a:buNone/>
            </a:pPr>
            <a:r>
              <a:rPr lang="en-US" sz="1500" b="1" dirty="0">
                <a:solidFill>
                  <a:schemeClr val="tx1"/>
                </a:solidFill>
              </a:rPr>
              <a:t>RNF04 · Confiabilidad</a:t>
            </a:r>
            <a:endParaRPr lang="en-US" sz="1500" dirty="0"/>
          </a:p>
        </p:txBody>
      </p:sp>
      <p:sp>
        <p:nvSpPr>
          <p:cNvPr id="18" name="desc rnf 04"/>
          <p:cNvSpPr txBox="1"/>
          <p:nvPr/>
        </p:nvSpPr>
        <p:spPr>
          <a:xfrm>
            <a:off x="1371600" y="3639312"/>
            <a:ext cx="2971800" cy="640080"/>
          </a:xfrm>
          <a:prstGeom prst="rect">
            <a:avLst/>
          </a:prstGeom>
          <a:noFill/>
          <a:ln/>
        </p:spPr>
        <p:txBody>
          <a:bodyPr wrap="square" lIns="0" tIns="0" rIns="0" bIns="0" rtlCol="0" anchor="t"/>
          <a:lstStyle/>
          <a:p>
            <a:pPr indent="0" marL="0">
              <a:buNone/>
            </a:pPr>
            <a:r>
              <a:rPr lang="en-US" sz="1300" dirty="0">
                <a:solidFill>
                  <a:schemeClr val="tx1"/>
                </a:solidFill>
              </a:rPr>
              <a:t>Ningún evento se pierde si Redis o un trabajador fallan; sin duplicados</a:t>
            </a:r>
            <a:endParaRPr lang="en-US" sz="1300" dirty="0"/>
          </a:p>
        </p:txBody>
      </p:sp>
      <p:sp>
        <p:nvSpPr>
          <p:cNvPr id="19" name="rnf 05"/>
          <p:cNvSpPr/>
          <p:nvPr/>
        </p:nvSpPr>
        <p:spPr>
          <a:xfrm>
            <a:off x="4663440" y="3108960"/>
            <a:ext cx="4023360" cy="1234440"/>
          </a:xfrm>
          <a:prstGeom prst="roundRect">
            <a:avLst>
              <a:gd name="adj" fmla="val 5926"/>
            </a:avLst>
          </a:prstGeom>
          <a:solidFill>
            <a:schemeClr val="bg2"/>
          </a:solidFill>
          <a:ln/>
        </p:spPr>
      </p:sp>
      <p:sp>
        <p:nvSpPr>
          <p:cNvPr id="20" name="insignia rnf 05"/>
          <p:cNvSpPr/>
          <p:nvPr/>
        </p:nvSpPr>
        <p:spPr>
          <a:xfrm>
            <a:off x="4892040" y="3337560"/>
            <a:ext cx="502920" cy="502920"/>
          </a:xfrm>
          <a:prstGeom prst="ellipse">
            <a:avLst/>
          </a:prstGeom>
          <a:solidFill>
            <a:schemeClr val="accent1"/>
          </a:solidFill>
          <a:ln/>
        </p:spPr>
      </p:sp>
      <p:sp>
        <p:nvSpPr>
          <p:cNvPr id="21" name="insignia rnf 05 texto"/>
          <p:cNvSpPr txBox="1"/>
          <p:nvPr/>
        </p:nvSpPr>
        <p:spPr>
          <a:xfrm>
            <a:off x="4892040" y="33375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05</a:t>
            </a:r>
            <a:endParaRPr lang="en-US" sz="1300" dirty="0"/>
          </a:p>
        </p:txBody>
      </p:sp>
      <p:sp>
        <p:nvSpPr>
          <p:cNvPr id="22" name="titulo rnf 05"/>
          <p:cNvSpPr txBox="1"/>
          <p:nvPr/>
        </p:nvSpPr>
        <p:spPr>
          <a:xfrm>
            <a:off x="5577840" y="3291840"/>
            <a:ext cx="2971800" cy="320040"/>
          </a:xfrm>
          <a:prstGeom prst="rect">
            <a:avLst/>
          </a:prstGeom>
          <a:noFill/>
          <a:ln/>
        </p:spPr>
        <p:txBody>
          <a:bodyPr wrap="square" lIns="0" tIns="0" rIns="0" bIns="0" rtlCol="0" anchor="t"/>
          <a:lstStyle/>
          <a:p>
            <a:pPr indent="0" marL="0">
              <a:buNone/>
            </a:pPr>
            <a:r>
              <a:rPr lang="en-US" sz="1500" b="1" dirty="0">
                <a:solidFill>
                  <a:schemeClr val="tx1"/>
                </a:solidFill>
              </a:rPr>
              <a:t>RNF05 · Privacidad (Ley 1581)</a:t>
            </a:r>
            <a:endParaRPr lang="en-US" sz="1500" dirty="0"/>
          </a:p>
        </p:txBody>
      </p:sp>
      <p:sp>
        <p:nvSpPr>
          <p:cNvPr id="23" name="desc rnf 05"/>
          <p:cNvSpPr txBox="1"/>
          <p:nvPr/>
        </p:nvSpPr>
        <p:spPr>
          <a:xfrm>
            <a:off x="5577840" y="3639312"/>
            <a:ext cx="2971800" cy="640080"/>
          </a:xfrm>
          <a:prstGeom prst="rect">
            <a:avLst/>
          </a:prstGeom>
          <a:noFill/>
          <a:ln/>
        </p:spPr>
        <p:txBody>
          <a:bodyPr wrap="square" lIns="0" tIns="0" rIns="0" bIns="0" rtlCol="0" anchor="t"/>
          <a:lstStyle/>
          <a:p>
            <a:pPr indent="0" marL="0">
              <a:buNone/>
            </a:pPr>
            <a:r>
              <a:rPr lang="en-US" sz="1300" dirty="0">
                <a:solidFill>
                  <a:schemeClr val="tx1"/>
                </a:solidFill>
              </a:rPr>
              <a:t>Una empresa nunca ve datos de otra; servicios internos inaccesibles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Microservicios con comunicación híbrida</a:t>
            </a:r>
            <a:endParaRPr lang="en-US" sz="3000" dirty="0"/>
          </a:p>
        </p:txBody>
      </p:sp>
      <p:sp>
        <p:nvSpPr>
          <p:cNvPr id="3" name="diagrama de componentes marco"/>
          <p:cNvSpPr/>
          <p:nvPr/>
        </p:nvSpPr>
        <p:spPr>
          <a:xfrm>
            <a:off x="420624" y="1059308"/>
            <a:ext cx="4919472" cy="3550664"/>
          </a:xfrm>
          <a:prstGeom prst="rect">
            <a:avLst/>
          </a:prstGeom>
          <a:solidFill>
            <a:schemeClr val="bg1"/>
          </a:solidFill>
          <a:ln w="12700">
            <a:solidFill>
              <a:schemeClr val="accent6"/>
            </a:solidFill>
            <a:prstDash val="solid"/>
          </a:ln>
          <a:effectLst>
            <a:outerShdw sx="100000" sy="100000" kx="0" ky="0" algn="bl" rotWithShape="0" blurRad="76200" dist="25400" dir="5400000">
              <a:srgbClr val="16323A">
                <a:alpha val="12000"/>
              </a:srgbClr>
            </a:outerShdw>
          </a:effectLst>
        </p:spPr>
      </p:sp>
      <p:pic>
        <p:nvPicPr>
          <p:cNvPr id="4" name="diagrama de componentes" descr="D:\Augusto\Universidad\Semestre 8\Arquitectura de Software\Unidad 1\aulanube\docs\uml\componentes.png">    </p:cNvPr>
          <p:cNvPicPr>
            <a:picLocks noChangeAspect="1"/>
          </p:cNvPicPr>
          <p:nvPr/>
        </p:nvPicPr>
        <p:blipFill>
          <a:blip r:embed="rId1"/>
          <a:stretch>
            <a:fillRect/>
          </a:stretch>
        </p:blipFill>
        <p:spPr>
          <a:xfrm>
            <a:off x="457200" y="1095884"/>
            <a:ext cx="4846320" cy="3477512"/>
          </a:xfrm>
          <a:prstGeom prst="rect">
            <a:avLst/>
          </a:prstGeom>
        </p:spPr>
      </p:pic>
      <p:sp>
        <p:nvSpPr>
          <p:cNvPr id="5" name="punto 1"/>
          <p:cNvSpPr/>
          <p:nvPr/>
        </p:nvSpPr>
        <p:spPr>
          <a:xfrm>
            <a:off x="5623560" y="1188720"/>
            <a:ext cx="384048" cy="384048"/>
          </a:xfrm>
          <a:prstGeom prst="ellipse">
            <a:avLst/>
          </a:prstGeom>
          <a:solidFill>
            <a:schemeClr val="accent1"/>
          </a:solidFill>
          <a:ln/>
        </p:spPr>
      </p:sp>
      <p:sp>
        <p:nvSpPr>
          <p:cNvPr id="6" name="punto 1 texto"/>
          <p:cNvSpPr txBox="1"/>
          <p:nvPr/>
        </p:nvSpPr>
        <p:spPr>
          <a:xfrm>
            <a:off x="5623560" y="11887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unto 1"/>
          <p:cNvSpPr txBox="1"/>
          <p:nvPr/>
        </p:nvSpPr>
        <p:spPr>
          <a:xfrm>
            <a:off x="6172200" y="1143000"/>
            <a:ext cx="2560320" cy="777240"/>
          </a:xfrm>
          <a:prstGeom prst="rect">
            <a:avLst/>
          </a:prstGeom>
          <a:noFill/>
          <a:ln/>
        </p:spPr>
        <p:txBody>
          <a:bodyPr wrap="square" lIns="0" tIns="0" rIns="0" bIns="0" rtlCol="0" anchor="t"/>
          <a:lstStyle/>
          <a:p>
            <a:pPr indent="0" marL="0">
              <a:buNone/>
            </a:pPr>
            <a:r>
              <a:rPr lang="en-US" sz="1400" b="1" dirty="0">
                <a:solidFill>
                  <a:schemeClr val="accent1"/>
                </a:solidFill>
              </a:rPr>
              <a:t>REST </a:t>
            </a:r>
            <a:pPr indent="0" marL="0">
              <a:buNone/>
            </a:pPr>
            <a:r>
              <a:rPr lang="en-US" sz="1400" dirty="0">
                <a:solidFill>
                  <a:schemeClr val="tx1"/>
                </a:solidFill>
              </a:rPr>
              <a:t>para lo que el usuario consulta y necesita ver ya</a:t>
            </a:r>
            <a:endParaRPr lang="en-US" sz="1400" dirty="0"/>
          </a:p>
        </p:txBody>
      </p:sp>
      <p:sp>
        <p:nvSpPr>
          <p:cNvPr id="8" name="punto 2"/>
          <p:cNvSpPr/>
          <p:nvPr/>
        </p:nvSpPr>
        <p:spPr>
          <a:xfrm>
            <a:off x="5623560" y="2057400"/>
            <a:ext cx="384048" cy="384048"/>
          </a:xfrm>
          <a:prstGeom prst="ellipse">
            <a:avLst/>
          </a:prstGeom>
          <a:solidFill>
            <a:schemeClr val="accent1"/>
          </a:solidFill>
          <a:ln/>
        </p:spPr>
      </p:sp>
      <p:sp>
        <p:nvSpPr>
          <p:cNvPr id="9" name="punto 2 texto"/>
          <p:cNvSpPr txBox="1"/>
          <p:nvPr/>
        </p:nvSpPr>
        <p:spPr>
          <a:xfrm>
            <a:off x="5623560" y="20574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unto 2"/>
          <p:cNvSpPr txBox="1"/>
          <p:nvPr/>
        </p:nvSpPr>
        <p:spPr>
          <a:xfrm>
            <a:off x="6172200" y="2011680"/>
            <a:ext cx="2560320" cy="777240"/>
          </a:xfrm>
          <a:prstGeom prst="rect">
            <a:avLst/>
          </a:prstGeom>
          <a:noFill/>
          <a:ln/>
        </p:spPr>
        <p:txBody>
          <a:bodyPr wrap="square" lIns="0" tIns="0" rIns="0" bIns="0" rtlCol="0" anchor="t"/>
          <a:lstStyle/>
          <a:p>
            <a:pPr indent="0" marL="0">
              <a:buNone/>
            </a:pPr>
            <a:r>
              <a:rPr lang="en-US" sz="1400" b="1" dirty="0">
                <a:solidFill>
                  <a:schemeClr val="accent1"/>
                </a:solidFill>
              </a:rPr>
              <a:t>Eventos </a:t>
            </a:r>
            <a:pPr indent="0" marL="0">
              <a:buNone/>
            </a:pPr>
            <a:r>
              <a:rPr lang="en-US" sz="1400" dirty="0">
                <a:solidFill>
                  <a:schemeClr val="tx1"/>
                </a:solidFill>
              </a:rPr>
              <a:t>para el certificado y el aviso, que pueden llegar segundos después</a:t>
            </a:r>
            <a:endParaRPr lang="en-US" sz="1400" dirty="0"/>
          </a:p>
        </p:txBody>
      </p:sp>
      <p:sp>
        <p:nvSpPr>
          <p:cNvPr id="11" name="punto 3"/>
          <p:cNvSpPr/>
          <p:nvPr/>
        </p:nvSpPr>
        <p:spPr>
          <a:xfrm>
            <a:off x="5623560" y="2926080"/>
            <a:ext cx="384048" cy="384048"/>
          </a:xfrm>
          <a:prstGeom prst="ellipse">
            <a:avLst/>
          </a:prstGeom>
          <a:solidFill>
            <a:schemeClr val="accent1"/>
          </a:solidFill>
          <a:ln/>
        </p:spPr>
      </p:sp>
      <p:sp>
        <p:nvSpPr>
          <p:cNvPr id="12" name="punto 3 texto"/>
          <p:cNvSpPr txBox="1"/>
          <p:nvPr/>
        </p:nvSpPr>
        <p:spPr>
          <a:xfrm>
            <a:off x="5623560" y="2926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unto 3"/>
          <p:cNvSpPr txBox="1"/>
          <p:nvPr/>
        </p:nvSpPr>
        <p:spPr>
          <a:xfrm>
            <a:off x="6172200" y="2880360"/>
            <a:ext cx="2560320" cy="777240"/>
          </a:xfrm>
          <a:prstGeom prst="rect">
            <a:avLst/>
          </a:prstGeom>
          <a:noFill/>
          <a:ln/>
        </p:spPr>
        <p:txBody>
          <a:bodyPr wrap="square" lIns="0" tIns="0" rIns="0" bIns="0" rtlCol="0" anchor="t"/>
          <a:lstStyle/>
          <a:p>
            <a:pPr indent="0" marL="0">
              <a:buNone/>
            </a:pPr>
            <a:r>
              <a:rPr lang="en-US" sz="1400" b="1" dirty="0">
                <a:solidFill>
                  <a:schemeClr val="accent1"/>
                </a:solidFill>
              </a:rPr>
              <a:t>Gateway </a:t>
            </a:r>
            <a:pPr indent="0" marL="0">
              <a:buNone/>
            </a:pPr>
            <a:r>
              <a:rPr lang="en-US" sz="1400" dirty="0">
                <a:solidFill>
                  <a:schemeClr val="tx1"/>
                </a:solidFill>
              </a:rPr>
              <a:t>única puerta de entrada: token, límites y resiliencia</a:t>
            </a:r>
            <a:endParaRPr lang="en-US" sz="1400" dirty="0"/>
          </a:p>
        </p:txBody>
      </p:sp>
      <p:sp>
        <p:nvSpPr>
          <p:cNvPr id="14" name="punto 4"/>
          <p:cNvSpPr/>
          <p:nvPr/>
        </p:nvSpPr>
        <p:spPr>
          <a:xfrm>
            <a:off x="5623560" y="3794760"/>
            <a:ext cx="384048" cy="384048"/>
          </a:xfrm>
          <a:prstGeom prst="ellipse">
            <a:avLst/>
          </a:prstGeom>
          <a:solidFill>
            <a:schemeClr val="accent1"/>
          </a:solidFill>
          <a:ln/>
        </p:spPr>
      </p:sp>
      <p:sp>
        <p:nvSpPr>
          <p:cNvPr id="15" name="punto 4 texto"/>
          <p:cNvSpPr txBox="1"/>
          <p:nvPr/>
        </p:nvSpPr>
        <p:spPr>
          <a:xfrm>
            <a:off x="5623560" y="37947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unto 4"/>
          <p:cNvSpPr txBox="1"/>
          <p:nvPr/>
        </p:nvSpPr>
        <p:spPr>
          <a:xfrm>
            <a:off x="6172200" y="3749040"/>
            <a:ext cx="2560320" cy="777240"/>
          </a:xfrm>
          <a:prstGeom prst="rect">
            <a:avLst/>
          </a:prstGeom>
          <a:noFill/>
          <a:ln/>
        </p:spPr>
        <p:txBody>
          <a:bodyPr wrap="square" lIns="0" tIns="0" rIns="0" bIns="0" rtlCol="0" anchor="t"/>
          <a:lstStyle/>
          <a:p>
            <a:pPr indent="0" marL="0">
              <a:buNone/>
            </a:pPr>
            <a:r>
              <a:rPr lang="en-US" sz="1400" b="1" dirty="0">
                <a:solidFill>
                  <a:schemeClr val="accent1"/>
                </a:solidFill>
              </a:rPr>
              <a:t>Una base </a:t>
            </a:r>
            <a:pPr indent="0" marL="0">
              <a:buNone/>
            </a:pPr>
            <a:r>
              <a:rPr lang="en-US" sz="1400" dirty="0">
                <a:solidFill>
                  <a:schemeClr val="tx1"/>
                </a:solidFill>
              </a:rPr>
              <a:t>por servicio: nadie lee las tablas de otro</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Los principios de la unidad, en decisiones concretas</a:t>
            </a:r>
            <a:endParaRPr lang="en-US" sz="3000" dirty="0"/>
          </a:p>
        </p:txBody>
      </p:sp>
      <p:sp>
        <p:nvSpPr>
          <p:cNvPr id="3" name="principio 1"/>
          <p:cNvSpPr/>
          <p:nvPr/>
        </p:nvSpPr>
        <p:spPr>
          <a:xfrm>
            <a:off x="457200" y="1188720"/>
            <a:ext cx="2606040" cy="3246120"/>
          </a:xfrm>
          <a:prstGeom prst="roundRect">
            <a:avLst>
              <a:gd name="adj" fmla="val 2807"/>
            </a:avLst>
          </a:prstGeom>
          <a:solidFill>
            <a:schemeClr val="bg2"/>
          </a:solidFill>
          <a:ln/>
        </p:spPr>
      </p:sp>
      <p:sp>
        <p:nvSpPr>
          <p:cNvPr id="4" name="insignia principio 1"/>
          <p:cNvSpPr/>
          <p:nvPr/>
        </p:nvSpPr>
        <p:spPr>
          <a:xfrm>
            <a:off x="685800" y="1417320"/>
            <a:ext cx="548640" cy="548640"/>
          </a:xfrm>
          <a:prstGeom prst="ellipse">
            <a:avLst/>
          </a:prstGeom>
          <a:solidFill>
            <a:schemeClr val="accent1"/>
          </a:solidFill>
          <a:ln/>
        </p:spPr>
      </p:sp>
      <p:sp>
        <p:nvSpPr>
          <p:cNvPr id="5" name="insignia principio 1 texto"/>
          <p:cNvSpPr txBox="1"/>
          <p:nvPr/>
        </p:nvSpPr>
        <p:spPr>
          <a:xfrm>
            <a:off x="685800" y="141732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itulo principio 1"/>
          <p:cNvSpPr txBox="1"/>
          <p:nvPr/>
        </p:nvSpPr>
        <p:spPr>
          <a:xfrm>
            <a:off x="685800" y="2148840"/>
            <a:ext cx="2194560" cy="685800"/>
          </a:xfrm>
          <a:prstGeom prst="rect">
            <a:avLst/>
          </a:prstGeom>
          <a:noFill/>
          <a:ln/>
        </p:spPr>
        <p:txBody>
          <a:bodyPr wrap="square" lIns="0" tIns="0" rIns="0" bIns="0" rtlCol="0" anchor="t"/>
          <a:lstStyle/>
          <a:p>
            <a:pPr indent="0" marL="0">
              <a:buNone/>
            </a:pPr>
            <a:r>
              <a:rPr lang="en-US" sz="1800" b="1" dirty="0">
                <a:solidFill>
                  <a:schemeClr val="tx1"/>
                </a:solidFill>
              </a:rPr>
              <a:t>Alta cohesión</a:t>
            </a:r>
            <a:endParaRPr lang="en-US" sz="1800" dirty="0"/>
          </a:p>
        </p:txBody>
      </p:sp>
      <p:sp>
        <p:nvSpPr>
          <p:cNvPr id="7" name="desc principio 1"/>
          <p:cNvSpPr txBox="1"/>
          <p:nvPr/>
        </p:nvSpPr>
        <p:spPr>
          <a:xfrm>
            <a:off x="685800" y="2834640"/>
            <a:ext cx="2194560" cy="1463040"/>
          </a:xfrm>
          <a:prstGeom prst="rect">
            <a:avLst/>
          </a:prstGeom>
          <a:noFill/>
          <a:ln/>
        </p:spPr>
        <p:txBody>
          <a:bodyPr wrap="square" lIns="0" tIns="0" rIns="0" bIns="0" rtlCol="0" anchor="t"/>
          <a:lstStyle/>
          <a:p>
            <a:pPr indent="0" marL="0">
              <a:buNone/>
            </a:pPr>
            <a:r>
              <a:rPr lang="en-US" sz="1400" dirty="0">
                <a:solidFill>
                  <a:schemeClr val="tx1"/>
                </a:solidFill>
              </a:rPr>
              <a:t>Cada servicio resuelve un solo concepto del dominio. Certificados no calcula progreso; cursos no genera PDF.</a:t>
            </a:r>
            <a:endParaRPr lang="en-US" sz="1400" dirty="0"/>
          </a:p>
        </p:txBody>
      </p:sp>
      <p:sp>
        <p:nvSpPr>
          <p:cNvPr id="8" name="principio 2"/>
          <p:cNvSpPr/>
          <p:nvPr/>
        </p:nvSpPr>
        <p:spPr>
          <a:xfrm>
            <a:off x="3246120" y="1188720"/>
            <a:ext cx="2606040" cy="3246120"/>
          </a:xfrm>
          <a:prstGeom prst="roundRect">
            <a:avLst>
              <a:gd name="adj" fmla="val 2807"/>
            </a:avLst>
          </a:prstGeom>
          <a:solidFill>
            <a:schemeClr val="bg2"/>
          </a:solidFill>
          <a:ln/>
        </p:spPr>
      </p:sp>
      <p:sp>
        <p:nvSpPr>
          <p:cNvPr id="9" name="insignia principio 2"/>
          <p:cNvSpPr/>
          <p:nvPr/>
        </p:nvSpPr>
        <p:spPr>
          <a:xfrm>
            <a:off x="3474720" y="1417320"/>
            <a:ext cx="548640" cy="548640"/>
          </a:xfrm>
          <a:prstGeom prst="ellipse">
            <a:avLst/>
          </a:prstGeom>
          <a:solidFill>
            <a:schemeClr val="accent2"/>
          </a:solidFill>
          <a:ln/>
        </p:spPr>
      </p:sp>
      <p:sp>
        <p:nvSpPr>
          <p:cNvPr id="10" name="insignia principio 2 texto"/>
          <p:cNvSpPr txBox="1"/>
          <p:nvPr/>
        </p:nvSpPr>
        <p:spPr>
          <a:xfrm>
            <a:off x="3474720" y="141732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itulo principio 2"/>
          <p:cNvSpPr txBox="1"/>
          <p:nvPr/>
        </p:nvSpPr>
        <p:spPr>
          <a:xfrm>
            <a:off x="3474720" y="2148840"/>
            <a:ext cx="2194560" cy="685800"/>
          </a:xfrm>
          <a:prstGeom prst="rect">
            <a:avLst/>
          </a:prstGeom>
          <a:noFill/>
          <a:ln/>
        </p:spPr>
        <p:txBody>
          <a:bodyPr wrap="square" lIns="0" tIns="0" rIns="0" bIns="0" rtlCol="0" anchor="t"/>
          <a:lstStyle/>
          <a:p>
            <a:pPr indent="0" marL="0">
              <a:buNone/>
            </a:pPr>
            <a:r>
              <a:rPr lang="en-US" sz="1800" b="1" dirty="0">
                <a:solidFill>
                  <a:schemeClr val="tx1"/>
                </a:solidFill>
              </a:rPr>
              <a:t>Bajo acoplamiento</a:t>
            </a:r>
            <a:endParaRPr lang="en-US" sz="1800" dirty="0"/>
          </a:p>
        </p:txBody>
      </p:sp>
      <p:sp>
        <p:nvSpPr>
          <p:cNvPr id="12" name="desc principio 2"/>
          <p:cNvSpPr txBox="1"/>
          <p:nvPr/>
        </p:nvSpPr>
        <p:spPr>
          <a:xfrm>
            <a:off x="3474720" y="2834640"/>
            <a:ext cx="2194560" cy="1463040"/>
          </a:xfrm>
          <a:prstGeom prst="rect">
            <a:avLst/>
          </a:prstGeom>
          <a:noFill/>
          <a:ln/>
        </p:spPr>
        <p:txBody>
          <a:bodyPr wrap="square" lIns="0" tIns="0" rIns="0" bIns="0" rtlCol="0" anchor="t"/>
          <a:lstStyle/>
          <a:p>
            <a:pPr indent="0" marL="0">
              <a:buNone/>
            </a:pPr>
            <a:r>
              <a:rPr lang="en-US" sz="1400" dirty="0">
                <a:solidFill>
                  <a:schemeClr val="tx1"/>
                </a:solidFill>
              </a:rPr>
              <a:t>Los servicios no se llaman entre sí. Cursos publica «curso.completado» y no sabe quién lo escucha.</a:t>
            </a:r>
            <a:endParaRPr lang="en-US" sz="1400" dirty="0"/>
          </a:p>
        </p:txBody>
      </p:sp>
      <p:sp>
        <p:nvSpPr>
          <p:cNvPr id="13" name="principio 3"/>
          <p:cNvSpPr/>
          <p:nvPr/>
        </p:nvSpPr>
        <p:spPr>
          <a:xfrm>
            <a:off x="6035040" y="1188720"/>
            <a:ext cx="2606040" cy="3246120"/>
          </a:xfrm>
          <a:prstGeom prst="roundRect">
            <a:avLst>
              <a:gd name="adj" fmla="val 2807"/>
            </a:avLst>
          </a:prstGeom>
          <a:solidFill>
            <a:schemeClr val="bg2"/>
          </a:solidFill>
          <a:ln/>
        </p:spPr>
      </p:sp>
      <p:sp>
        <p:nvSpPr>
          <p:cNvPr id="14" name="insignia principio 3"/>
          <p:cNvSpPr/>
          <p:nvPr/>
        </p:nvSpPr>
        <p:spPr>
          <a:xfrm>
            <a:off x="6263640" y="1417320"/>
            <a:ext cx="548640" cy="548640"/>
          </a:xfrm>
          <a:prstGeom prst="ellipse">
            <a:avLst/>
          </a:prstGeom>
          <a:solidFill>
            <a:schemeClr val="tx2"/>
          </a:solidFill>
          <a:ln/>
        </p:spPr>
      </p:sp>
      <p:sp>
        <p:nvSpPr>
          <p:cNvPr id="15" name="insignia principio 3 texto"/>
          <p:cNvSpPr txBox="1"/>
          <p:nvPr/>
        </p:nvSpPr>
        <p:spPr>
          <a:xfrm>
            <a:off x="6263640" y="141732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itulo principio 3"/>
          <p:cNvSpPr txBox="1"/>
          <p:nvPr/>
        </p:nvSpPr>
        <p:spPr>
          <a:xfrm>
            <a:off x="6263640" y="2148840"/>
            <a:ext cx="2194560" cy="685800"/>
          </a:xfrm>
          <a:prstGeom prst="rect">
            <a:avLst/>
          </a:prstGeom>
          <a:noFill/>
          <a:ln/>
        </p:spPr>
        <p:txBody>
          <a:bodyPr wrap="square" lIns="0" tIns="0" rIns="0" bIns="0" rtlCol="0" anchor="t"/>
          <a:lstStyle/>
          <a:p>
            <a:pPr indent="0" marL="0">
              <a:buNone/>
            </a:pPr>
            <a:r>
              <a:rPr lang="en-US" sz="1800" b="1" dirty="0">
                <a:solidFill>
                  <a:schemeClr val="tx1"/>
                </a:solidFill>
              </a:rPr>
              <a:t>Ocultamiento de información</a:t>
            </a:r>
            <a:endParaRPr lang="en-US" sz="1800" dirty="0"/>
          </a:p>
        </p:txBody>
      </p:sp>
      <p:sp>
        <p:nvSpPr>
          <p:cNvPr id="17" name="desc principio 3"/>
          <p:cNvSpPr txBox="1"/>
          <p:nvPr/>
        </p:nvSpPr>
        <p:spPr>
          <a:xfrm>
            <a:off x="6263640" y="2834640"/>
            <a:ext cx="2194560" cy="1463040"/>
          </a:xfrm>
          <a:prstGeom prst="rect">
            <a:avLst/>
          </a:prstGeom>
          <a:noFill/>
          <a:ln/>
        </p:spPr>
        <p:txBody>
          <a:bodyPr wrap="square" lIns="0" tIns="0" rIns="0" bIns="0" rtlCol="0" anchor="t"/>
          <a:lstStyle/>
          <a:p>
            <a:pPr indent="0" marL="0">
              <a:buNone/>
            </a:pPr>
            <a:r>
              <a:rPr lang="en-US" sz="1400" dirty="0">
                <a:solidFill>
                  <a:schemeClr val="tx1"/>
                </a:solidFill>
              </a:rPr>
              <a:t>La base de cada servicio es privada (Parnas, 1972). Mover los PDF a Object Storage no toca a nadie más.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Casos de uso y modelo de clases</a:t>
            </a:r>
            <a:endParaRPr lang="en-US" sz="3000" dirty="0"/>
          </a:p>
        </p:txBody>
      </p:sp>
      <p:sp>
        <p:nvSpPr>
          <p:cNvPr id="3" name="casos de uso marco"/>
          <p:cNvSpPr/>
          <p:nvPr/>
        </p:nvSpPr>
        <p:spPr>
          <a:xfrm>
            <a:off x="614978" y="1014984"/>
            <a:ext cx="3707804" cy="2999232"/>
          </a:xfrm>
          <a:prstGeom prst="rect">
            <a:avLst/>
          </a:prstGeom>
          <a:solidFill>
            <a:schemeClr val="bg1"/>
          </a:solidFill>
          <a:ln w="12700">
            <a:solidFill>
              <a:schemeClr val="accent6"/>
            </a:solidFill>
            <a:prstDash val="solid"/>
          </a:ln>
          <a:effectLst>
            <a:outerShdw sx="100000" sy="100000" kx="0" ky="0" algn="bl" rotWithShape="0" blurRad="76200" dist="25400" dir="5400000">
              <a:srgbClr val="16323A">
                <a:alpha val="12000"/>
              </a:srgbClr>
            </a:outerShdw>
          </a:effectLst>
        </p:spPr>
      </p:sp>
      <p:pic>
        <p:nvPicPr>
          <p:cNvPr id="4" name="casos de uso" descr="D:\Augusto\Universidad\Semestre 8\Arquitectura de Software\Unidad 1\aulanube\docs\uml\casos-de-uso.png">    </p:cNvPr>
          <p:cNvPicPr>
            <a:picLocks noChangeAspect="1"/>
          </p:cNvPicPr>
          <p:nvPr/>
        </p:nvPicPr>
        <p:blipFill>
          <a:blip r:embed="rId1"/>
          <a:stretch>
            <a:fillRect/>
          </a:stretch>
        </p:blipFill>
        <p:spPr>
          <a:xfrm>
            <a:off x="651554" y="1051560"/>
            <a:ext cx="3634652" cy="2926080"/>
          </a:xfrm>
          <a:prstGeom prst="rect">
            <a:avLst/>
          </a:prstGeom>
        </p:spPr>
      </p:pic>
      <p:sp>
        <p:nvSpPr>
          <p:cNvPr id="5" name="clases marco"/>
          <p:cNvSpPr/>
          <p:nvPr/>
        </p:nvSpPr>
        <p:spPr>
          <a:xfrm>
            <a:off x="5016770" y="1014984"/>
            <a:ext cx="3316700" cy="2999232"/>
          </a:xfrm>
          <a:prstGeom prst="rect">
            <a:avLst/>
          </a:prstGeom>
          <a:solidFill>
            <a:schemeClr val="bg1"/>
          </a:solidFill>
          <a:ln w="12700">
            <a:solidFill>
              <a:schemeClr val="accent6"/>
            </a:solidFill>
            <a:prstDash val="solid"/>
          </a:ln>
          <a:effectLst>
            <a:outerShdw sx="100000" sy="100000" kx="0" ky="0" algn="bl" rotWithShape="0" blurRad="76200" dist="25400" dir="5400000">
              <a:srgbClr val="16323A">
                <a:alpha val="12000"/>
              </a:srgbClr>
            </a:outerShdw>
          </a:effectLst>
        </p:spPr>
      </p:sp>
      <p:pic>
        <p:nvPicPr>
          <p:cNvPr id="6" name="clases" descr="D:\Augusto\Universidad\Semestre 8\Arquitectura de Software\Unidad 1\aulanube\docs\uml\clases.png">    </p:cNvPr>
          <p:cNvPicPr>
            <a:picLocks noChangeAspect="1"/>
          </p:cNvPicPr>
          <p:nvPr/>
        </p:nvPicPr>
        <p:blipFill>
          <a:blip r:embed="rId2"/>
          <a:stretch>
            <a:fillRect/>
          </a:stretch>
        </p:blipFill>
        <p:spPr>
          <a:xfrm>
            <a:off x="5053346" y="1051560"/>
            <a:ext cx="3243548" cy="2926080"/>
          </a:xfrm>
          <a:prstGeom prst="rect">
            <a:avLst/>
          </a:prstGeom>
        </p:spPr>
      </p:pic>
      <p:sp>
        <p:nvSpPr>
          <p:cNvPr id="7" name="lectura casos de uso"/>
          <p:cNvSpPr txBox="1"/>
          <p:nvPr/>
        </p:nvSpPr>
        <p:spPr>
          <a:xfrm>
            <a:off x="457200" y="4114800"/>
            <a:ext cx="4023360" cy="548640"/>
          </a:xfrm>
          <a:prstGeom prst="rect">
            <a:avLst/>
          </a:prstGeom>
          <a:noFill/>
          <a:ln/>
        </p:spPr>
        <p:txBody>
          <a:bodyPr wrap="square" lIns="0" tIns="0" rIns="0" bIns="0" rtlCol="0" anchor="t"/>
          <a:lstStyle/>
          <a:p>
            <a:pPr indent="0" marL="0">
              <a:buNone/>
            </a:pPr>
            <a:r>
              <a:rPr lang="en-US" sz="1300" dirty="0">
                <a:solidFill>
                  <a:schemeClr val="tx1"/>
                </a:solidFill>
              </a:rPr>
              <a:t>La emisión del certificado la dispara un evento, no una persona: debe ser asíncrona.</a:t>
            </a:r>
            <a:endParaRPr lang="en-US" sz="1300" dirty="0"/>
          </a:p>
        </p:txBody>
      </p:sp>
      <p:sp>
        <p:nvSpPr>
          <p:cNvPr id="8" name="lectura clases"/>
          <p:cNvSpPr txBox="1"/>
          <p:nvPr/>
        </p:nvSpPr>
        <p:spPr>
          <a:xfrm>
            <a:off x="4663440" y="4114800"/>
            <a:ext cx="4023360" cy="548640"/>
          </a:xfrm>
          <a:prstGeom prst="rect">
            <a:avLst/>
          </a:prstGeom>
          <a:noFill/>
          <a:ln/>
        </p:spPr>
        <p:txBody>
          <a:bodyPr wrap="square" lIns="0" tIns="0" rIns="0" bIns="0" rtlCol="0" anchor="t"/>
          <a:lstStyle/>
          <a:p>
            <a:pPr indent="0" marL="0">
              <a:buNone/>
            </a:pPr>
            <a:r>
              <a:rPr lang="en-US" sz="1300" dirty="0">
                <a:solidFill>
                  <a:schemeClr val="tx1"/>
                </a:solidFill>
              </a:rPr>
              <a:t>Ninguna asociación cruza un paquete: cada servicio es dueño de sus datos.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Secuencia: completar un curso</a:t>
            </a:r>
            <a:endParaRPr lang="en-US" sz="3000" dirty="0"/>
          </a:p>
        </p:txBody>
      </p:sp>
      <p:sp>
        <p:nvSpPr>
          <p:cNvPr id="3" name="secuencia marco"/>
          <p:cNvSpPr/>
          <p:nvPr/>
        </p:nvSpPr>
        <p:spPr>
          <a:xfrm>
            <a:off x="450540" y="1014984"/>
            <a:ext cx="5499719" cy="3685032"/>
          </a:xfrm>
          <a:prstGeom prst="rect">
            <a:avLst/>
          </a:prstGeom>
          <a:solidFill>
            <a:schemeClr val="bg1"/>
          </a:solidFill>
          <a:ln w="12700">
            <a:solidFill>
              <a:schemeClr val="accent6"/>
            </a:solidFill>
            <a:prstDash val="solid"/>
          </a:ln>
          <a:effectLst>
            <a:outerShdw sx="100000" sy="100000" kx="0" ky="0" algn="bl" rotWithShape="0" blurRad="76200" dist="25400" dir="5400000">
              <a:srgbClr val="16323A">
                <a:alpha val="12000"/>
              </a:srgbClr>
            </a:outerShdw>
          </a:effectLst>
        </p:spPr>
      </p:sp>
      <p:pic>
        <p:nvPicPr>
          <p:cNvPr id="4" name="secuencia" descr="D:\Augusto\Universidad\Semestre 8\Arquitectura de Software\Unidad 1\aulanube\docs\uml\secuencia.png">    </p:cNvPr>
          <p:cNvPicPr>
            <a:picLocks noChangeAspect="1"/>
          </p:cNvPicPr>
          <p:nvPr/>
        </p:nvPicPr>
        <p:blipFill>
          <a:blip r:embed="rId1"/>
          <a:stretch>
            <a:fillRect/>
          </a:stretch>
        </p:blipFill>
        <p:spPr>
          <a:xfrm>
            <a:off x="487116" y="1051560"/>
            <a:ext cx="5426567" cy="3611880"/>
          </a:xfrm>
          <a:prstGeom prst="rect">
            <a:avLst/>
          </a:prstGeom>
        </p:spPr>
      </p:pic>
      <p:sp>
        <p:nvSpPr>
          <p:cNvPr id="5" name="paso 1"/>
          <p:cNvSpPr/>
          <p:nvPr/>
        </p:nvSpPr>
        <p:spPr>
          <a:xfrm>
            <a:off x="6217920" y="1234440"/>
            <a:ext cx="411480" cy="411480"/>
          </a:xfrm>
          <a:prstGeom prst="ellipse">
            <a:avLst/>
          </a:prstGeom>
          <a:solidFill>
            <a:schemeClr val="accent2"/>
          </a:solidFill>
          <a:ln/>
        </p:spPr>
      </p:sp>
      <p:sp>
        <p:nvSpPr>
          <p:cNvPr id="6" name="paso 1 texto"/>
          <p:cNvSpPr txBox="1"/>
          <p:nvPr/>
        </p:nvSpPr>
        <p:spPr>
          <a:xfrm>
            <a:off x="6217920" y="12344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aso 1"/>
          <p:cNvSpPr txBox="1"/>
          <p:nvPr/>
        </p:nvSpPr>
        <p:spPr>
          <a:xfrm>
            <a:off x="6766560" y="1207008"/>
            <a:ext cx="1920240" cy="960120"/>
          </a:xfrm>
          <a:prstGeom prst="rect">
            <a:avLst/>
          </a:prstGeom>
          <a:noFill/>
          <a:ln/>
        </p:spPr>
        <p:txBody>
          <a:bodyPr wrap="square" lIns="0" tIns="0" rIns="0" bIns="0" rtlCol="0" anchor="t"/>
          <a:lstStyle/>
          <a:p>
            <a:pPr indent="0" marL="0">
              <a:buNone/>
            </a:pPr>
            <a:r>
              <a:rPr lang="en-US" sz="1400" dirty="0">
                <a:solidFill>
                  <a:schemeClr val="tx1"/>
                </a:solidFill>
              </a:rPr>
              <a:t>Una transacción guarda el avance y el evento (outbox)</a:t>
            </a:r>
            <a:endParaRPr lang="en-US" sz="1400" dirty="0"/>
          </a:p>
        </p:txBody>
      </p:sp>
      <p:sp>
        <p:nvSpPr>
          <p:cNvPr id="8" name="paso 2"/>
          <p:cNvSpPr/>
          <p:nvPr/>
        </p:nvSpPr>
        <p:spPr>
          <a:xfrm>
            <a:off x="6217920" y="2331720"/>
            <a:ext cx="411480" cy="411480"/>
          </a:xfrm>
          <a:prstGeom prst="ellipse">
            <a:avLst/>
          </a:prstGeom>
          <a:solidFill>
            <a:schemeClr val="accent2"/>
          </a:solidFill>
          <a:ln/>
        </p:spPr>
      </p:sp>
      <p:sp>
        <p:nvSpPr>
          <p:cNvPr id="9" name="paso 2 texto"/>
          <p:cNvSpPr txBox="1"/>
          <p:nvPr/>
        </p:nvSpPr>
        <p:spPr>
          <a:xfrm>
            <a:off x="6217920" y="23317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aso 2"/>
          <p:cNvSpPr txBox="1"/>
          <p:nvPr/>
        </p:nvSpPr>
        <p:spPr>
          <a:xfrm>
            <a:off x="6766560" y="2304288"/>
            <a:ext cx="1920240" cy="960120"/>
          </a:xfrm>
          <a:prstGeom prst="rect">
            <a:avLst/>
          </a:prstGeom>
          <a:noFill/>
          <a:ln/>
        </p:spPr>
        <p:txBody>
          <a:bodyPr wrap="square" lIns="0" tIns="0" rIns="0" bIns="0" rtlCol="0" anchor="t"/>
          <a:lstStyle/>
          <a:p>
            <a:pPr indent="0" marL="0">
              <a:buNone/>
            </a:pPr>
            <a:r>
              <a:rPr lang="en-US" sz="1400" dirty="0">
                <a:solidFill>
                  <a:schemeClr val="tx1"/>
                </a:solidFill>
              </a:rPr>
              <a:t>El usuario recibe respuesta de inmediato</a:t>
            </a:r>
            <a:endParaRPr lang="en-US" sz="1400" dirty="0"/>
          </a:p>
        </p:txBody>
      </p:sp>
      <p:sp>
        <p:nvSpPr>
          <p:cNvPr id="11" name="paso 3"/>
          <p:cNvSpPr/>
          <p:nvPr/>
        </p:nvSpPr>
        <p:spPr>
          <a:xfrm>
            <a:off x="6217920" y="3429000"/>
            <a:ext cx="411480" cy="411480"/>
          </a:xfrm>
          <a:prstGeom prst="ellipse">
            <a:avLst/>
          </a:prstGeom>
          <a:solidFill>
            <a:schemeClr val="accent2"/>
          </a:solidFill>
          <a:ln/>
        </p:spPr>
      </p:sp>
      <p:sp>
        <p:nvSpPr>
          <p:cNvPr id="12" name="paso 3 texto"/>
          <p:cNvSpPr txBox="1"/>
          <p:nvPr/>
        </p:nvSpPr>
        <p:spPr>
          <a:xfrm>
            <a:off x="6217920" y="34290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aso 3"/>
          <p:cNvSpPr txBox="1"/>
          <p:nvPr/>
        </p:nvSpPr>
        <p:spPr>
          <a:xfrm>
            <a:off x="6766560" y="3401568"/>
            <a:ext cx="1920240" cy="960120"/>
          </a:xfrm>
          <a:prstGeom prst="rect">
            <a:avLst/>
          </a:prstGeom>
          <a:noFill/>
          <a:ln/>
        </p:spPr>
        <p:txBody>
          <a:bodyPr wrap="square" lIns="0" tIns="0" rIns="0" bIns="0" rtlCol="0" anchor="t"/>
          <a:lstStyle/>
          <a:p>
            <a:pPr indent="0" marL="0">
              <a:buNone/>
            </a:pPr>
            <a:r>
              <a:rPr lang="en-US" sz="1400" dirty="0">
                <a:solidFill>
                  <a:schemeClr val="tx1"/>
                </a:solidFill>
              </a:rPr>
              <a:t>Certificados y notificaciones reciben el evento en paralelo</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Despliegue en Oracle Cloud, capa gratuita</a:t>
            </a:r>
            <a:endParaRPr lang="en-US" sz="3000" dirty="0"/>
          </a:p>
        </p:txBody>
      </p:sp>
      <p:sp>
        <p:nvSpPr>
          <p:cNvPr id="3" name="despliegue marco"/>
          <p:cNvSpPr/>
          <p:nvPr/>
        </p:nvSpPr>
        <p:spPr>
          <a:xfrm>
            <a:off x="492775" y="1014984"/>
            <a:ext cx="4409409" cy="3685032"/>
          </a:xfrm>
          <a:prstGeom prst="rect">
            <a:avLst/>
          </a:prstGeom>
          <a:solidFill>
            <a:schemeClr val="bg1"/>
          </a:solidFill>
          <a:ln w="12700">
            <a:solidFill>
              <a:schemeClr val="accent6"/>
            </a:solidFill>
            <a:prstDash val="solid"/>
          </a:ln>
          <a:effectLst>
            <a:outerShdw sx="100000" sy="100000" kx="0" ky="0" algn="bl" rotWithShape="0" blurRad="76200" dist="25400" dir="5400000">
              <a:srgbClr val="16323A">
                <a:alpha val="12000"/>
              </a:srgbClr>
            </a:outerShdw>
          </a:effectLst>
        </p:spPr>
      </p:sp>
      <p:pic>
        <p:nvPicPr>
          <p:cNvPr id="4" name="despliegue" descr="D:\Augusto\Universidad\Semestre 8\Arquitectura de Software\Unidad 1\aulanube\docs\uml\despliegue.png">    </p:cNvPr>
          <p:cNvPicPr>
            <a:picLocks noChangeAspect="1"/>
          </p:cNvPicPr>
          <p:nvPr/>
        </p:nvPicPr>
        <p:blipFill>
          <a:blip r:embed="rId1"/>
          <a:stretch>
            <a:fillRect/>
          </a:stretch>
        </p:blipFill>
        <p:spPr>
          <a:xfrm>
            <a:off x="529351" y="1051560"/>
            <a:ext cx="4336257" cy="3611880"/>
          </a:xfrm>
          <a:prstGeom prst="rect">
            <a:avLst/>
          </a:prstGeom>
        </p:spPr>
      </p:pic>
      <p:sp>
        <p:nvSpPr>
          <p:cNvPr id="5" name="hecho 1"/>
          <p:cNvSpPr/>
          <p:nvPr/>
        </p:nvSpPr>
        <p:spPr>
          <a:xfrm>
            <a:off x="5212080" y="1097280"/>
            <a:ext cx="3474720" cy="749808"/>
          </a:xfrm>
          <a:prstGeom prst="roundRect">
            <a:avLst>
              <a:gd name="adj" fmla="val 9756"/>
            </a:avLst>
          </a:prstGeom>
          <a:solidFill>
            <a:schemeClr val="bg2"/>
          </a:solidFill>
          <a:ln/>
        </p:spPr>
      </p:sp>
      <p:sp>
        <p:nvSpPr>
          <p:cNvPr id="6" name="cifra hecho 1"/>
          <p:cNvSpPr txBox="1"/>
          <p:nvPr/>
        </p:nvSpPr>
        <p:spPr>
          <a:xfrm>
            <a:off x="5394960" y="1207008"/>
            <a:ext cx="1143000" cy="548640"/>
          </a:xfrm>
          <a:prstGeom prst="rect">
            <a:avLst/>
          </a:prstGeom>
          <a:noFill/>
          <a:ln/>
        </p:spPr>
        <p:txBody>
          <a:bodyPr wrap="square" lIns="0" tIns="0" rIns="0" bIns="0" rtlCol="0" anchor="ctr"/>
          <a:lstStyle/>
          <a:p>
            <a:pPr indent="0" marL="0">
              <a:buNone/>
            </a:pPr>
            <a:r>
              <a:rPr lang="en-US" sz="2000" b="1" dirty="0">
                <a:solidFill>
                  <a:schemeClr val="accent1"/>
                </a:solidFill>
              </a:rPr>
              <a:t>2 nodos</a:t>
            </a:r>
            <a:endParaRPr lang="en-US" sz="2000" dirty="0"/>
          </a:p>
        </p:txBody>
      </p:sp>
      <p:sp>
        <p:nvSpPr>
          <p:cNvPr id="7" name="texto hecho 1"/>
          <p:cNvSpPr txBox="1"/>
          <p:nvPr/>
        </p:nvSpPr>
        <p:spPr>
          <a:xfrm>
            <a:off x="6537960" y="1188720"/>
            <a:ext cx="2057400" cy="594360"/>
          </a:xfrm>
          <a:prstGeom prst="rect">
            <a:avLst/>
          </a:prstGeom>
          <a:noFill/>
          <a:ln/>
        </p:spPr>
        <p:txBody>
          <a:bodyPr wrap="square" lIns="0" tIns="0" rIns="0" bIns="0" rtlCol="0" anchor="ctr"/>
          <a:lstStyle/>
          <a:p>
            <a:pPr indent="0" marL="0">
              <a:buNone/>
            </a:pPr>
            <a:r>
              <a:rPr lang="en-US" sz="1300" dirty="0">
                <a:solidFill>
                  <a:schemeClr val="tx1"/>
                </a:solidFill>
              </a:rPr>
              <a:t>Ampere A1 · 1 OCPU · 6 GB · arm64 · K3s</a:t>
            </a:r>
            <a:endParaRPr lang="en-US" sz="1300" dirty="0"/>
          </a:p>
        </p:txBody>
      </p:sp>
      <p:sp>
        <p:nvSpPr>
          <p:cNvPr id="8" name="hecho 2"/>
          <p:cNvSpPr/>
          <p:nvPr/>
        </p:nvSpPr>
        <p:spPr>
          <a:xfrm>
            <a:off x="5212080" y="1984248"/>
            <a:ext cx="3474720" cy="749808"/>
          </a:xfrm>
          <a:prstGeom prst="roundRect">
            <a:avLst>
              <a:gd name="adj" fmla="val 9756"/>
            </a:avLst>
          </a:prstGeom>
          <a:solidFill>
            <a:schemeClr val="bg2"/>
          </a:solidFill>
          <a:ln/>
        </p:spPr>
      </p:sp>
      <p:sp>
        <p:nvSpPr>
          <p:cNvPr id="9" name="cifra hecho 2"/>
          <p:cNvSpPr txBox="1"/>
          <p:nvPr/>
        </p:nvSpPr>
        <p:spPr>
          <a:xfrm>
            <a:off x="5394960" y="2093976"/>
            <a:ext cx="1143000" cy="548640"/>
          </a:xfrm>
          <a:prstGeom prst="rect">
            <a:avLst/>
          </a:prstGeom>
          <a:noFill/>
          <a:ln/>
        </p:spPr>
        <p:txBody>
          <a:bodyPr wrap="square" lIns="0" tIns="0" rIns="0" bIns="0" rtlCol="0" anchor="ctr"/>
          <a:lstStyle/>
          <a:p>
            <a:pPr indent="0" marL="0">
              <a:buNone/>
            </a:pPr>
            <a:r>
              <a:rPr lang="en-US" sz="2000" b="1" dirty="0">
                <a:solidFill>
                  <a:schemeClr val="accent1"/>
                </a:solidFill>
              </a:rPr>
              <a:t>HTTPS</a:t>
            </a:r>
            <a:endParaRPr lang="en-US" sz="2000" dirty="0"/>
          </a:p>
        </p:txBody>
      </p:sp>
      <p:sp>
        <p:nvSpPr>
          <p:cNvPr id="10" name="texto hecho 2"/>
          <p:cNvSpPr txBox="1"/>
          <p:nvPr/>
        </p:nvSpPr>
        <p:spPr>
          <a:xfrm>
            <a:off x="6537960" y="2075688"/>
            <a:ext cx="2057400" cy="594360"/>
          </a:xfrm>
          <a:prstGeom prst="rect">
            <a:avLst/>
          </a:prstGeom>
          <a:noFill/>
          <a:ln/>
        </p:spPr>
        <p:txBody>
          <a:bodyPr wrap="square" lIns="0" tIns="0" rIns="0" bIns="0" rtlCol="0" anchor="ctr"/>
          <a:lstStyle/>
          <a:p>
            <a:pPr indent="0" marL="0">
              <a:buNone/>
            </a:pPr>
            <a:r>
              <a:rPr lang="en-US" sz="1300" dirty="0">
                <a:solidFill>
                  <a:schemeClr val="tx1"/>
                </a:solidFill>
              </a:rPr>
              <a:t>Traefik con certificado de Let's Encrypt</a:t>
            </a:r>
            <a:endParaRPr lang="en-US" sz="1300" dirty="0"/>
          </a:p>
        </p:txBody>
      </p:sp>
      <p:sp>
        <p:nvSpPr>
          <p:cNvPr id="11" name="hecho 3"/>
          <p:cNvSpPr/>
          <p:nvPr/>
        </p:nvSpPr>
        <p:spPr>
          <a:xfrm>
            <a:off x="5212080" y="2871216"/>
            <a:ext cx="3474720" cy="749808"/>
          </a:xfrm>
          <a:prstGeom prst="roundRect">
            <a:avLst>
              <a:gd name="adj" fmla="val 9756"/>
            </a:avLst>
          </a:prstGeom>
          <a:solidFill>
            <a:schemeClr val="bg2"/>
          </a:solidFill>
          <a:ln/>
        </p:spPr>
      </p:sp>
      <p:sp>
        <p:nvSpPr>
          <p:cNvPr id="12" name="cifra hecho 3"/>
          <p:cNvSpPr txBox="1"/>
          <p:nvPr/>
        </p:nvSpPr>
        <p:spPr>
          <a:xfrm>
            <a:off x="5394960" y="2980944"/>
            <a:ext cx="1143000" cy="548640"/>
          </a:xfrm>
          <a:prstGeom prst="rect">
            <a:avLst/>
          </a:prstGeom>
          <a:noFill/>
          <a:ln/>
        </p:spPr>
        <p:txBody>
          <a:bodyPr wrap="square" lIns="0" tIns="0" rIns="0" bIns="0" rtlCol="0" anchor="ctr"/>
          <a:lstStyle/>
          <a:p>
            <a:pPr indent="0" marL="0">
              <a:buNone/>
            </a:pPr>
            <a:r>
              <a:rPr lang="en-US" sz="2000" b="1" dirty="0">
                <a:solidFill>
                  <a:schemeClr val="accent1"/>
                </a:solidFill>
              </a:rPr>
              <a:t>2–4</a:t>
            </a:r>
            <a:endParaRPr lang="en-US" sz="2000" dirty="0"/>
          </a:p>
        </p:txBody>
      </p:sp>
      <p:sp>
        <p:nvSpPr>
          <p:cNvPr id="13" name="texto hecho 3"/>
          <p:cNvSpPr txBox="1"/>
          <p:nvPr/>
        </p:nvSpPr>
        <p:spPr>
          <a:xfrm>
            <a:off x="6537960" y="2962656"/>
            <a:ext cx="2057400" cy="594360"/>
          </a:xfrm>
          <a:prstGeom prst="rect">
            <a:avLst/>
          </a:prstGeom>
          <a:noFill/>
          <a:ln/>
        </p:spPr>
        <p:txBody>
          <a:bodyPr wrap="square" lIns="0" tIns="0" rIns="0" bIns="0" rtlCol="0" anchor="ctr"/>
          <a:lstStyle/>
          <a:p>
            <a:pPr indent="0" marL="0">
              <a:buNone/>
            </a:pPr>
            <a:r>
              <a:rPr lang="en-US" sz="1300" dirty="0">
                <a:solidFill>
                  <a:schemeClr val="tx1"/>
                </a:solidFill>
              </a:rPr>
              <a:t>réplicas de certificados según CPU (HPA)</a:t>
            </a:r>
            <a:endParaRPr lang="en-US" sz="1300" dirty="0"/>
          </a:p>
        </p:txBody>
      </p:sp>
      <p:sp>
        <p:nvSpPr>
          <p:cNvPr id="14" name="hecho 4"/>
          <p:cNvSpPr/>
          <p:nvPr/>
        </p:nvSpPr>
        <p:spPr>
          <a:xfrm>
            <a:off x="5212080" y="3758184"/>
            <a:ext cx="3474720" cy="749808"/>
          </a:xfrm>
          <a:prstGeom prst="roundRect">
            <a:avLst>
              <a:gd name="adj" fmla="val 9756"/>
            </a:avLst>
          </a:prstGeom>
          <a:solidFill>
            <a:schemeClr val="bg2"/>
          </a:solidFill>
          <a:ln/>
        </p:spPr>
      </p:sp>
      <p:sp>
        <p:nvSpPr>
          <p:cNvPr id="15" name="cifra hecho 4"/>
          <p:cNvSpPr txBox="1"/>
          <p:nvPr/>
        </p:nvSpPr>
        <p:spPr>
          <a:xfrm>
            <a:off x="5394960" y="3867912"/>
            <a:ext cx="1143000" cy="548640"/>
          </a:xfrm>
          <a:prstGeom prst="rect">
            <a:avLst/>
          </a:prstGeom>
          <a:noFill/>
          <a:ln/>
        </p:spPr>
        <p:txBody>
          <a:bodyPr wrap="square" lIns="0" tIns="0" rIns="0" bIns="0" rtlCol="0" anchor="ctr"/>
          <a:lstStyle/>
          <a:p>
            <a:pPr indent="0" marL="0">
              <a:buNone/>
            </a:pPr>
            <a:r>
              <a:rPr lang="en-US" sz="2000" b="1" dirty="0">
                <a:solidFill>
                  <a:schemeClr val="accent1"/>
                </a:solidFill>
              </a:rPr>
              <a:t>4 capas</a:t>
            </a:r>
            <a:endParaRPr lang="en-US" sz="2000" dirty="0"/>
          </a:p>
        </p:txBody>
      </p:sp>
      <p:sp>
        <p:nvSpPr>
          <p:cNvPr id="16" name="texto hecho 4"/>
          <p:cNvSpPr txBox="1"/>
          <p:nvPr/>
        </p:nvSpPr>
        <p:spPr>
          <a:xfrm>
            <a:off x="6537960" y="3849624"/>
            <a:ext cx="2057400" cy="594360"/>
          </a:xfrm>
          <a:prstGeom prst="rect">
            <a:avLst/>
          </a:prstGeom>
          <a:noFill/>
          <a:ln/>
        </p:spPr>
        <p:txBody>
          <a:bodyPr wrap="square" lIns="0" tIns="0" rIns="0" bIns="0" rtlCol="0" anchor="ctr"/>
          <a:lstStyle/>
          <a:p>
            <a:pPr indent="0" marL="0">
              <a:buNone/>
            </a:pPr>
            <a:r>
              <a:rPr lang="en-US" sz="1300" dirty="0">
                <a:solidFill>
                  <a:schemeClr val="tx1"/>
                </a:solidFill>
              </a:rPr>
              <a:t>de NetworkPolicy: web → gateway → servicios → datos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Patrones de nube elegidos por escenario</a:t>
            </a:r>
            <a:endParaRPr lang="en-US" sz="3000" dirty="0"/>
          </a:p>
        </p:txBody>
      </p:sp>
      <p:sp>
        <p:nvSpPr>
          <p:cNvPr id="3" name="patron 1"/>
          <p:cNvSpPr/>
          <p:nvPr/>
        </p:nvSpPr>
        <p:spPr>
          <a:xfrm>
            <a:off x="457200" y="1097280"/>
            <a:ext cx="1938528" cy="1691640"/>
          </a:xfrm>
          <a:prstGeom prst="roundRect">
            <a:avLst>
              <a:gd name="adj" fmla="val 4324"/>
            </a:avLst>
          </a:prstGeom>
          <a:solidFill>
            <a:schemeClr val="bg2"/>
          </a:solidFill>
          <a:ln/>
        </p:spPr>
      </p:sp>
      <p:sp>
        <p:nvSpPr>
          <p:cNvPr id="4" name="titulo patron 1"/>
          <p:cNvSpPr txBox="1"/>
          <p:nvPr/>
        </p:nvSpPr>
        <p:spPr>
          <a:xfrm>
            <a:off x="621792" y="1261872"/>
            <a:ext cx="1645920" cy="502920"/>
          </a:xfrm>
          <a:prstGeom prst="rect">
            <a:avLst/>
          </a:prstGeom>
          <a:noFill/>
          <a:ln/>
        </p:spPr>
        <p:txBody>
          <a:bodyPr wrap="square" lIns="0" tIns="0" rIns="0" bIns="0" rtlCol="0" anchor="t"/>
          <a:lstStyle/>
          <a:p>
            <a:pPr indent="0" marL="0">
              <a:buNone/>
            </a:pPr>
            <a:r>
              <a:rPr lang="en-US" sz="1500" b="1" dirty="0">
                <a:solidFill>
                  <a:schemeClr val="tx1"/>
                </a:solidFill>
              </a:rPr>
              <a:t>API Gateway</a:t>
            </a:r>
            <a:endParaRPr lang="en-US" sz="1500" dirty="0"/>
          </a:p>
        </p:txBody>
      </p:sp>
      <p:sp>
        <p:nvSpPr>
          <p:cNvPr id="5" name="desc patron 1"/>
          <p:cNvSpPr txBox="1"/>
          <p:nvPr/>
        </p:nvSpPr>
        <p:spPr>
          <a:xfrm>
            <a:off x="621792" y="1828800"/>
            <a:ext cx="1645920" cy="640080"/>
          </a:xfrm>
          <a:prstGeom prst="rect">
            <a:avLst/>
          </a:prstGeom>
          <a:noFill/>
          <a:ln/>
        </p:spPr>
        <p:txBody>
          <a:bodyPr wrap="square" lIns="0" tIns="0" rIns="0" bIns="0" rtlCol="0" anchor="t"/>
          <a:lstStyle/>
          <a:p>
            <a:pPr indent="0" marL="0">
              <a:buNone/>
            </a:pPr>
            <a:r>
              <a:rPr lang="en-US" sz="1300" dirty="0">
                <a:solidFill>
                  <a:schemeClr val="tx1"/>
                </a:solidFill>
              </a:rPr>
              <a:t>Una entrada que valida el token</a:t>
            </a:r>
            <a:endParaRPr lang="en-US" sz="1300" dirty="0"/>
          </a:p>
        </p:txBody>
      </p:sp>
      <p:sp>
        <p:nvSpPr>
          <p:cNvPr id="6" name="rnf patron 1"/>
          <p:cNvSpPr txBox="1"/>
          <p:nvPr/>
        </p:nvSpPr>
        <p:spPr>
          <a:xfrm>
            <a:off x="621792" y="2487168"/>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RNF05</a:t>
            </a:r>
            <a:endParaRPr lang="en-US" sz="1100" dirty="0"/>
          </a:p>
        </p:txBody>
      </p:sp>
      <p:sp>
        <p:nvSpPr>
          <p:cNvPr id="7" name="patron 2"/>
          <p:cNvSpPr/>
          <p:nvPr/>
        </p:nvSpPr>
        <p:spPr>
          <a:xfrm>
            <a:off x="2542032" y="1097280"/>
            <a:ext cx="1938528" cy="1691640"/>
          </a:xfrm>
          <a:prstGeom prst="roundRect">
            <a:avLst>
              <a:gd name="adj" fmla="val 4324"/>
            </a:avLst>
          </a:prstGeom>
          <a:solidFill>
            <a:schemeClr val="bg2"/>
          </a:solidFill>
          <a:ln/>
        </p:spPr>
      </p:sp>
      <p:sp>
        <p:nvSpPr>
          <p:cNvPr id="8" name="titulo patron 2"/>
          <p:cNvSpPr txBox="1"/>
          <p:nvPr/>
        </p:nvSpPr>
        <p:spPr>
          <a:xfrm>
            <a:off x="2706624" y="1261872"/>
            <a:ext cx="1645920" cy="502920"/>
          </a:xfrm>
          <a:prstGeom prst="rect">
            <a:avLst/>
          </a:prstGeom>
          <a:noFill/>
          <a:ln/>
        </p:spPr>
        <p:txBody>
          <a:bodyPr wrap="square" lIns="0" tIns="0" rIns="0" bIns="0" rtlCol="0" anchor="t"/>
          <a:lstStyle/>
          <a:p>
            <a:pPr indent="0" marL="0">
              <a:buNone/>
            </a:pPr>
            <a:r>
              <a:rPr lang="en-US" sz="1500" b="1" dirty="0">
                <a:solidFill>
                  <a:schemeClr val="tx1"/>
                </a:solidFill>
              </a:rPr>
              <a:t>Database per Service</a:t>
            </a:r>
            <a:endParaRPr lang="en-US" sz="1500" dirty="0"/>
          </a:p>
        </p:txBody>
      </p:sp>
      <p:sp>
        <p:nvSpPr>
          <p:cNvPr id="9" name="desc patron 2"/>
          <p:cNvSpPr txBox="1"/>
          <p:nvPr/>
        </p:nvSpPr>
        <p:spPr>
          <a:xfrm>
            <a:off x="2706624" y="1828800"/>
            <a:ext cx="1645920" cy="640080"/>
          </a:xfrm>
          <a:prstGeom prst="rect">
            <a:avLst/>
          </a:prstGeom>
          <a:noFill/>
          <a:ln/>
        </p:spPr>
        <p:txBody>
          <a:bodyPr wrap="square" lIns="0" tIns="0" rIns="0" bIns="0" rtlCol="0" anchor="t"/>
          <a:lstStyle/>
          <a:p>
            <a:pPr indent="0" marL="0">
              <a:buNone/>
            </a:pPr>
            <a:r>
              <a:rPr lang="en-US" sz="1300" dirty="0">
                <a:solidFill>
                  <a:schemeClr val="tx1"/>
                </a:solidFill>
              </a:rPr>
              <a:t>Una base y un usuario por servicio</a:t>
            </a:r>
            <a:endParaRPr lang="en-US" sz="1300" dirty="0"/>
          </a:p>
        </p:txBody>
      </p:sp>
      <p:sp>
        <p:nvSpPr>
          <p:cNvPr id="10" name="rnf patron 2"/>
          <p:cNvSpPr txBox="1"/>
          <p:nvPr/>
        </p:nvSpPr>
        <p:spPr>
          <a:xfrm>
            <a:off x="2706624" y="2487168"/>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RNF07</a:t>
            </a:r>
            <a:endParaRPr lang="en-US" sz="1100" dirty="0"/>
          </a:p>
        </p:txBody>
      </p:sp>
      <p:sp>
        <p:nvSpPr>
          <p:cNvPr id="11" name="patron 3"/>
          <p:cNvSpPr/>
          <p:nvPr/>
        </p:nvSpPr>
        <p:spPr>
          <a:xfrm>
            <a:off x="4626864" y="1097280"/>
            <a:ext cx="1938528" cy="1691640"/>
          </a:xfrm>
          <a:prstGeom prst="roundRect">
            <a:avLst>
              <a:gd name="adj" fmla="val 4324"/>
            </a:avLst>
          </a:prstGeom>
          <a:solidFill>
            <a:schemeClr val="bg2"/>
          </a:solidFill>
          <a:ln/>
        </p:spPr>
      </p:sp>
      <p:sp>
        <p:nvSpPr>
          <p:cNvPr id="12" name="titulo patron 3"/>
          <p:cNvSpPr txBox="1"/>
          <p:nvPr/>
        </p:nvSpPr>
        <p:spPr>
          <a:xfrm>
            <a:off x="4791456" y="1261872"/>
            <a:ext cx="1645920" cy="502920"/>
          </a:xfrm>
          <a:prstGeom prst="rect">
            <a:avLst/>
          </a:prstGeom>
          <a:noFill/>
          <a:ln/>
        </p:spPr>
        <p:txBody>
          <a:bodyPr wrap="square" lIns="0" tIns="0" rIns="0" bIns="0" rtlCol="0" anchor="t"/>
          <a:lstStyle/>
          <a:p>
            <a:pPr indent="0" marL="0">
              <a:buNone/>
            </a:pPr>
            <a:r>
              <a:rPr lang="en-US" sz="1500" b="1" dirty="0">
                <a:solidFill>
                  <a:schemeClr val="tx1"/>
                </a:solidFill>
              </a:rPr>
              <a:t>Publisher / Subscriber</a:t>
            </a:r>
            <a:endParaRPr lang="en-US" sz="1500" dirty="0"/>
          </a:p>
        </p:txBody>
      </p:sp>
      <p:sp>
        <p:nvSpPr>
          <p:cNvPr id="13" name="desc patron 3"/>
          <p:cNvSpPr txBox="1"/>
          <p:nvPr/>
        </p:nvSpPr>
        <p:spPr>
          <a:xfrm>
            <a:off x="4791456" y="1828800"/>
            <a:ext cx="1645920" cy="640080"/>
          </a:xfrm>
          <a:prstGeom prst="rect">
            <a:avLst/>
          </a:prstGeom>
          <a:noFill/>
          <a:ln/>
        </p:spPr>
        <p:txBody>
          <a:bodyPr wrap="square" lIns="0" tIns="0" rIns="0" bIns="0" rtlCol="0" anchor="t"/>
          <a:lstStyle/>
          <a:p>
            <a:pPr indent="0" marL="0">
              <a:buNone/>
            </a:pPr>
            <a:r>
              <a:rPr lang="en-US" sz="1300" dirty="0">
                <a:solidFill>
                  <a:schemeClr val="tx1"/>
                </a:solidFill>
              </a:rPr>
              <a:t>Un flujo de Redis por publicador</a:t>
            </a:r>
            <a:endParaRPr lang="en-US" sz="1300" dirty="0"/>
          </a:p>
        </p:txBody>
      </p:sp>
      <p:sp>
        <p:nvSpPr>
          <p:cNvPr id="14" name="rnf patron 3"/>
          <p:cNvSpPr txBox="1"/>
          <p:nvPr/>
        </p:nvSpPr>
        <p:spPr>
          <a:xfrm>
            <a:off x="4791456" y="2487168"/>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RNF07</a:t>
            </a:r>
            <a:endParaRPr lang="en-US" sz="1100" dirty="0"/>
          </a:p>
        </p:txBody>
      </p:sp>
      <p:sp>
        <p:nvSpPr>
          <p:cNvPr id="15" name="patron 4"/>
          <p:cNvSpPr/>
          <p:nvPr/>
        </p:nvSpPr>
        <p:spPr>
          <a:xfrm>
            <a:off x="6711696" y="1097280"/>
            <a:ext cx="1938528" cy="1691640"/>
          </a:xfrm>
          <a:prstGeom prst="roundRect">
            <a:avLst>
              <a:gd name="adj" fmla="val 4324"/>
            </a:avLst>
          </a:prstGeom>
          <a:solidFill>
            <a:schemeClr val="bg2"/>
          </a:solidFill>
          <a:ln/>
        </p:spPr>
      </p:sp>
      <p:sp>
        <p:nvSpPr>
          <p:cNvPr id="16" name="titulo patron 4"/>
          <p:cNvSpPr txBox="1"/>
          <p:nvPr/>
        </p:nvSpPr>
        <p:spPr>
          <a:xfrm>
            <a:off x="6876288" y="1261872"/>
            <a:ext cx="1645920" cy="502920"/>
          </a:xfrm>
          <a:prstGeom prst="rect">
            <a:avLst/>
          </a:prstGeom>
          <a:noFill/>
          <a:ln/>
        </p:spPr>
        <p:txBody>
          <a:bodyPr wrap="square" lIns="0" tIns="0" rIns="0" bIns="0" rtlCol="0" anchor="t"/>
          <a:lstStyle/>
          <a:p>
            <a:pPr indent="0" marL="0">
              <a:buNone/>
            </a:pPr>
            <a:r>
              <a:rPr lang="en-US" sz="1500" b="1" dirty="0">
                <a:solidFill>
                  <a:schemeClr val="tx1"/>
                </a:solidFill>
              </a:rPr>
              <a:t>Transactional Outbox</a:t>
            </a:r>
            <a:endParaRPr lang="en-US" sz="1500" dirty="0"/>
          </a:p>
        </p:txBody>
      </p:sp>
      <p:sp>
        <p:nvSpPr>
          <p:cNvPr id="17" name="desc patron 4"/>
          <p:cNvSpPr txBox="1"/>
          <p:nvPr/>
        </p:nvSpPr>
        <p:spPr>
          <a:xfrm>
            <a:off x="6876288" y="1828800"/>
            <a:ext cx="1645920" cy="640080"/>
          </a:xfrm>
          <a:prstGeom prst="rect">
            <a:avLst/>
          </a:prstGeom>
          <a:noFill/>
          <a:ln/>
        </p:spPr>
        <p:txBody>
          <a:bodyPr wrap="square" lIns="0" tIns="0" rIns="0" bIns="0" rtlCol="0" anchor="t"/>
          <a:lstStyle/>
          <a:p>
            <a:pPr indent="0" marL="0">
              <a:buNone/>
            </a:pPr>
            <a:r>
              <a:rPr lang="en-US" sz="1300" dirty="0">
                <a:solidFill>
                  <a:schemeClr val="tx1"/>
                </a:solidFill>
              </a:rPr>
              <a:t>El evento se guarda con el cambio</a:t>
            </a:r>
            <a:endParaRPr lang="en-US" sz="1300" dirty="0"/>
          </a:p>
        </p:txBody>
      </p:sp>
      <p:sp>
        <p:nvSpPr>
          <p:cNvPr id="18" name="rnf patron 4"/>
          <p:cNvSpPr txBox="1"/>
          <p:nvPr/>
        </p:nvSpPr>
        <p:spPr>
          <a:xfrm>
            <a:off x="6876288" y="2487168"/>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RNF04</a:t>
            </a:r>
            <a:endParaRPr lang="en-US" sz="1100" dirty="0"/>
          </a:p>
        </p:txBody>
      </p:sp>
      <p:sp>
        <p:nvSpPr>
          <p:cNvPr id="19" name="patron 5"/>
          <p:cNvSpPr/>
          <p:nvPr/>
        </p:nvSpPr>
        <p:spPr>
          <a:xfrm>
            <a:off x="457200" y="2907792"/>
            <a:ext cx="1938528" cy="1691640"/>
          </a:xfrm>
          <a:prstGeom prst="roundRect">
            <a:avLst>
              <a:gd name="adj" fmla="val 4324"/>
            </a:avLst>
          </a:prstGeom>
          <a:solidFill>
            <a:schemeClr val="bg2"/>
          </a:solidFill>
          <a:ln/>
        </p:spPr>
      </p:sp>
      <p:sp>
        <p:nvSpPr>
          <p:cNvPr id="20" name="titulo patron 5"/>
          <p:cNvSpPr txBox="1"/>
          <p:nvPr/>
        </p:nvSpPr>
        <p:spPr>
          <a:xfrm>
            <a:off x="621792" y="3072384"/>
            <a:ext cx="1645920" cy="502920"/>
          </a:xfrm>
          <a:prstGeom prst="rect">
            <a:avLst/>
          </a:prstGeom>
          <a:noFill/>
          <a:ln/>
        </p:spPr>
        <p:txBody>
          <a:bodyPr wrap="square" lIns="0" tIns="0" rIns="0" bIns="0" rtlCol="0" anchor="t"/>
          <a:lstStyle/>
          <a:p>
            <a:pPr indent="0" marL="0">
              <a:buNone/>
            </a:pPr>
            <a:r>
              <a:rPr lang="en-US" sz="1500" b="1" dirty="0">
                <a:solidFill>
                  <a:schemeClr val="tx1"/>
                </a:solidFill>
              </a:rPr>
              <a:t>Load Leveling</a:t>
            </a:r>
            <a:endParaRPr lang="en-US" sz="1500" dirty="0"/>
          </a:p>
        </p:txBody>
      </p:sp>
      <p:sp>
        <p:nvSpPr>
          <p:cNvPr id="21" name="desc patron 5"/>
          <p:cNvSpPr txBox="1"/>
          <p:nvPr/>
        </p:nvSpPr>
        <p:spPr>
          <a:xfrm>
            <a:off x="621792" y="3639312"/>
            <a:ext cx="1645920" cy="640080"/>
          </a:xfrm>
          <a:prstGeom prst="rect">
            <a:avLst/>
          </a:prstGeom>
          <a:noFill/>
          <a:ln/>
        </p:spPr>
        <p:txBody>
          <a:bodyPr wrap="square" lIns="0" tIns="0" rIns="0" bIns="0" rtlCol="0" anchor="t"/>
          <a:lstStyle/>
          <a:p>
            <a:pPr indent="0" marL="0">
              <a:buNone/>
            </a:pPr>
            <a:r>
              <a:rPr lang="en-US" sz="1300" dirty="0">
                <a:solidFill>
                  <a:schemeClr val="tx1"/>
                </a:solidFill>
              </a:rPr>
              <a:t>La cola absorbe el pico de la campaña</a:t>
            </a:r>
            <a:endParaRPr lang="en-US" sz="1300" dirty="0"/>
          </a:p>
        </p:txBody>
      </p:sp>
      <p:sp>
        <p:nvSpPr>
          <p:cNvPr id="22" name="rnf patron 5"/>
          <p:cNvSpPr txBox="1"/>
          <p:nvPr/>
        </p:nvSpPr>
        <p:spPr>
          <a:xfrm>
            <a:off x="621792" y="4297680"/>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RNF01</a:t>
            </a:r>
            <a:endParaRPr lang="en-US" sz="1100" dirty="0"/>
          </a:p>
        </p:txBody>
      </p:sp>
      <p:sp>
        <p:nvSpPr>
          <p:cNvPr id="23" name="patron 6"/>
          <p:cNvSpPr/>
          <p:nvPr/>
        </p:nvSpPr>
        <p:spPr>
          <a:xfrm>
            <a:off x="2542032" y="2907792"/>
            <a:ext cx="1938528" cy="1691640"/>
          </a:xfrm>
          <a:prstGeom prst="roundRect">
            <a:avLst>
              <a:gd name="adj" fmla="val 4324"/>
            </a:avLst>
          </a:prstGeom>
          <a:solidFill>
            <a:schemeClr val="bg2"/>
          </a:solidFill>
          <a:ln/>
        </p:spPr>
      </p:sp>
      <p:sp>
        <p:nvSpPr>
          <p:cNvPr id="24" name="titulo patron 6"/>
          <p:cNvSpPr txBox="1"/>
          <p:nvPr/>
        </p:nvSpPr>
        <p:spPr>
          <a:xfrm>
            <a:off x="2706624" y="3072384"/>
            <a:ext cx="1645920" cy="502920"/>
          </a:xfrm>
          <a:prstGeom prst="rect">
            <a:avLst/>
          </a:prstGeom>
          <a:noFill/>
          <a:ln/>
        </p:spPr>
        <p:txBody>
          <a:bodyPr wrap="square" lIns="0" tIns="0" rIns="0" bIns="0" rtlCol="0" anchor="t"/>
          <a:lstStyle/>
          <a:p>
            <a:pPr indent="0" marL="0">
              <a:buNone/>
            </a:pPr>
            <a:r>
              <a:rPr lang="en-US" sz="1500" b="1" dirty="0">
                <a:solidFill>
                  <a:schemeClr val="tx1"/>
                </a:solidFill>
              </a:rPr>
              <a:t>Competing Consumers</a:t>
            </a:r>
            <a:endParaRPr lang="en-US" sz="1500" dirty="0"/>
          </a:p>
        </p:txBody>
      </p:sp>
      <p:sp>
        <p:nvSpPr>
          <p:cNvPr id="25" name="desc patron 6"/>
          <p:cNvSpPr txBox="1"/>
          <p:nvPr/>
        </p:nvSpPr>
        <p:spPr>
          <a:xfrm>
            <a:off x="2706624" y="3639312"/>
            <a:ext cx="1645920" cy="640080"/>
          </a:xfrm>
          <a:prstGeom prst="rect">
            <a:avLst/>
          </a:prstGeom>
          <a:noFill/>
          <a:ln/>
        </p:spPr>
        <p:txBody>
          <a:bodyPr wrap="square" lIns="0" tIns="0" rIns="0" bIns="0" rtlCol="0" anchor="t"/>
          <a:lstStyle/>
          <a:p>
            <a:pPr indent="0" marL="0">
              <a:buNone/>
            </a:pPr>
            <a:r>
              <a:rPr lang="en-US" sz="1300" dirty="0">
                <a:solidFill>
                  <a:schemeClr val="tx1"/>
                </a:solidFill>
              </a:rPr>
              <a:t>Varias réplicas comparten la cola</a:t>
            </a:r>
            <a:endParaRPr lang="en-US" sz="1300" dirty="0"/>
          </a:p>
        </p:txBody>
      </p:sp>
      <p:sp>
        <p:nvSpPr>
          <p:cNvPr id="26" name="rnf patron 6"/>
          <p:cNvSpPr txBox="1"/>
          <p:nvPr/>
        </p:nvSpPr>
        <p:spPr>
          <a:xfrm>
            <a:off x="2706624" y="4297680"/>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RNF01</a:t>
            </a:r>
            <a:endParaRPr lang="en-US" sz="1100" dirty="0"/>
          </a:p>
        </p:txBody>
      </p:sp>
      <p:sp>
        <p:nvSpPr>
          <p:cNvPr id="27" name="patron 7"/>
          <p:cNvSpPr/>
          <p:nvPr/>
        </p:nvSpPr>
        <p:spPr>
          <a:xfrm>
            <a:off x="4626864" y="2907792"/>
            <a:ext cx="1938528" cy="1691640"/>
          </a:xfrm>
          <a:prstGeom prst="roundRect">
            <a:avLst>
              <a:gd name="adj" fmla="val 4324"/>
            </a:avLst>
          </a:prstGeom>
          <a:solidFill>
            <a:schemeClr val="bg2"/>
          </a:solidFill>
          <a:ln/>
        </p:spPr>
      </p:sp>
      <p:sp>
        <p:nvSpPr>
          <p:cNvPr id="28" name="titulo patron 7"/>
          <p:cNvSpPr txBox="1"/>
          <p:nvPr/>
        </p:nvSpPr>
        <p:spPr>
          <a:xfrm>
            <a:off x="4791456" y="3072384"/>
            <a:ext cx="1645920" cy="502920"/>
          </a:xfrm>
          <a:prstGeom prst="rect">
            <a:avLst/>
          </a:prstGeom>
          <a:noFill/>
          <a:ln/>
        </p:spPr>
        <p:txBody>
          <a:bodyPr wrap="square" lIns="0" tIns="0" rIns="0" bIns="0" rtlCol="0" anchor="t"/>
          <a:lstStyle/>
          <a:p>
            <a:pPr indent="0" marL="0">
              <a:buNone/>
            </a:pPr>
            <a:r>
              <a:rPr lang="en-US" sz="1500" b="1" dirty="0">
                <a:solidFill>
                  <a:schemeClr val="tx1"/>
                </a:solidFill>
              </a:rPr>
              <a:t>Circuit Breaker</a:t>
            </a:r>
            <a:endParaRPr lang="en-US" sz="1500" dirty="0"/>
          </a:p>
        </p:txBody>
      </p:sp>
      <p:sp>
        <p:nvSpPr>
          <p:cNvPr id="29" name="desc patron 7"/>
          <p:cNvSpPr txBox="1"/>
          <p:nvPr/>
        </p:nvSpPr>
        <p:spPr>
          <a:xfrm>
            <a:off x="4791456" y="3639312"/>
            <a:ext cx="1645920" cy="640080"/>
          </a:xfrm>
          <a:prstGeom prst="rect">
            <a:avLst/>
          </a:prstGeom>
          <a:noFill/>
          <a:ln/>
        </p:spPr>
        <p:txBody>
          <a:bodyPr wrap="square" lIns="0" tIns="0" rIns="0" bIns="0" rtlCol="0" anchor="t"/>
          <a:lstStyle/>
          <a:p>
            <a:pPr indent="0" marL="0">
              <a:buNone/>
            </a:pPr>
            <a:r>
              <a:rPr lang="en-US" sz="1300" dirty="0">
                <a:solidFill>
                  <a:schemeClr val="tx1"/>
                </a:solidFill>
              </a:rPr>
              <a:t>3 fallos → abierto 15 s → prueba</a:t>
            </a:r>
            <a:endParaRPr lang="en-US" sz="1300" dirty="0"/>
          </a:p>
        </p:txBody>
      </p:sp>
      <p:sp>
        <p:nvSpPr>
          <p:cNvPr id="30" name="rnf patron 7"/>
          <p:cNvSpPr txBox="1"/>
          <p:nvPr/>
        </p:nvSpPr>
        <p:spPr>
          <a:xfrm>
            <a:off x="4791456" y="4297680"/>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RNF03</a:t>
            </a:r>
            <a:endParaRPr lang="en-US" sz="1100" dirty="0"/>
          </a:p>
        </p:txBody>
      </p:sp>
      <p:sp>
        <p:nvSpPr>
          <p:cNvPr id="31" name="patron 8"/>
          <p:cNvSpPr/>
          <p:nvPr/>
        </p:nvSpPr>
        <p:spPr>
          <a:xfrm>
            <a:off x="6711696" y="2907792"/>
            <a:ext cx="1938528" cy="1691640"/>
          </a:xfrm>
          <a:prstGeom prst="roundRect">
            <a:avLst>
              <a:gd name="adj" fmla="val 4324"/>
            </a:avLst>
          </a:prstGeom>
          <a:solidFill>
            <a:schemeClr val="bg2"/>
          </a:solidFill>
          <a:ln/>
        </p:spPr>
      </p:sp>
      <p:sp>
        <p:nvSpPr>
          <p:cNvPr id="32" name="titulo patron 8"/>
          <p:cNvSpPr txBox="1"/>
          <p:nvPr/>
        </p:nvSpPr>
        <p:spPr>
          <a:xfrm>
            <a:off x="6876288" y="3072384"/>
            <a:ext cx="1645920" cy="502920"/>
          </a:xfrm>
          <a:prstGeom prst="rect">
            <a:avLst/>
          </a:prstGeom>
          <a:noFill/>
          <a:ln/>
        </p:spPr>
        <p:txBody>
          <a:bodyPr wrap="square" lIns="0" tIns="0" rIns="0" bIns="0" rtlCol="0" anchor="t"/>
          <a:lstStyle/>
          <a:p>
            <a:pPr indent="0" marL="0">
              <a:buNone/>
            </a:pPr>
            <a:r>
              <a:rPr lang="en-US" sz="1500" b="1" dirty="0">
                <a:solidFill>
                  <a:schemeClr val="tx1"/>
                </a:solidFill>
              </a:rPr>
              <a:t>Rate Limiting</a:t>
            </a:r>
            <a:endParaRPr lang="en-US" sz="1500" dirty="0"/>
          </a:p>
        </p:txBody>
      </p:sp>
      <p:sp>
        <p:nvSpPr>
          <p:cNvPr id="33" name="desc patron 8"/>
          <p:cNvSpPr txBox="1"/>
          <p:nvPr/>
        </p:nvSpPr>
        <p:spPr>
          <a:xfrm>
            <a:off x="6876288" y="3639312"/>
            <a:ext cx="1645920" cy="640080"/>
          </a:xfrm>
          <a:prstGeom prst="rect">
            <a:avLst/>
          </a:prstGeom>
          <a:noFill/>
          <a:ln/>
        </p:spPr>
        <p:txBody>
          <a:bodyPr wrap="square" lIns="0" tIns="0" rIns="0" bIns="0" rtlCol="0" anchor="t"/>
          <a:lstStyle/>
          <a:p>
            <a:pPr indent="0" marL="0">
              <a:buNone/>
            </a:pPr>
            <a:r>
              <a:rPr lang="en-US" sz="1300" dirty="0">
                <a:solidFill>
                  <a:schemeClr val="tx1"/>
                </a:solidFill>
              </a:rPr>
              <a:t>20 solicitudes/s por empresa</a:t>
            </a:r>
            <a:endParaRPr lang="en-US" sz="1300" dirty="0"/>
          </a:p>
        </p:txBody>
      </p:sp>
      <p:sp>
        <p:nvSpPr>
          <p:cNvPr id="34" name="rnf patron 8"/>
          <p:cNvSpPr txBox="1"/>
          <p:nvPr/>
        </p:nvSpPr>
        <p:spPr>
          <a:xfrm>
            <a:off x="6876288" y="4297680"/>
            <a:ext cx="1645920" cy="228600"/>
          </a:xfrm>
          <a:prstGeom prst="rect">
            <a:avLst/>
          </a:prstGeom>
          <a:noFill/>
          <a:ln/>
        </p:spPr>
        <p:txBody>
          <a:bodyPr wrap="square" lIns="0" tIns="0" rIns="0" bIns="0" rtlCol="0" anchor="t"/>
          <a:lstStyle/>
          <a:p>
            <a:pPr indent="0" marL="0">
              <a:buNone/>
            </a:pPr>
            <a:r>
              <a:rPr lang="en-US" sz="1100" b="1" dirty="0">
                <a:solidFill>
                  <a:schemeClr val="accent1"/>
                </a:solidFill>
              </a:rPr>
              <a:t>RNF06</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914400"/>
          </a:xfrm>
          <a:prstGeom prst="rect">
            <a:avLst/>
          </a:prstGeom>
          <a:noFill/>
          <a:ln/>
        </p:spPr>
        <p:txBody>
          <a:bodyPr wrap="square" lIns="0" tIns="0" rIns="0" bIns="0" rtlCol="0"/>
          <a:lstStyle/>
          <a:p>
            <a:pPr algn="l" indent="0" marL="0">
              <a:buNone/>
            </a:pPr>
            <a:r>
              <a:rPr lang="en-US" sz="4000" b="1" dirty="0">
                <a:solidFill>
                  <a:schemeClr val="bg1"/>
                </a:solidFill>
              </a:rPr>
              <a:t>Demostración en vivo</a:t>
            </a:r>
            <a:endParaRPr lang="en-US" sz="4000" dirty="0"/>
          </a:p>
        </p:txBody>
      </p:sp>
      <p:sp>
        <p:nvSpPr>
          <p:cNvPr id="3" name="Text 0"/>
          <p:cNvSpPr/>
          <p:nvPr>
            <p:ph idx="101" type="body" hasCustomPrompt="1"/>
          </p:nvPr>
        </p:nvSpPr>
        <p:spPr>
          <a:xfrm>
            <a:off x="548640" y="2148840"/>
            <a:ext cx="8046720" cy="548640"/>
          </a:xfrm>
          <a:prstGeom prst="rect">
            <a:avLst/>
          </a:prstGeom>
          <a:noFill/>
          <a:ln/>
        </p:spPr>
        <p:txBody>
          <a:bodyPr wrap="square" lIns="0" tIns="0" rIns="0" bIns="0" rtlCol="0"/>
          <a:lstStyle/>
          <a:p>
            <a:pPr indent="0" marL="0">
              <a:buNone/>
            </a:pPr>
            <a:r>
              <a:rPr lang="en-US" sz="1800" dirty="0">
                <a:solidFill>
                  <a:schemeClr val="accent6"/>
                </a:solidFill>
              </a:rPr>
              <a:t>aulanube.149-130-191-139.sslip.io</a:t>
            </a:r>
            <a:endParaRPr lang="en-US" sz="1800" dirty="0"/>
          </a:p>
        </p:txBody>
      </p:sp>
      <p:sp>
        <p:nvSpPr>
          <p:cNvPr id="4" name="demo 1"/>
          <p:cNvSpPr/>
          <p:nvPr/>
        </p:nvSpPr>
        <p:spPr>
          <a:xfrm>
            <a:off x="548640" y="3246120"/>
            <a:ext cx="292608" cy="292608"/>
          </a:xfrm>
          <a:prstGeom prst="ellipse">
            <a:avLst/>
          </a:prstGeom>
          <a:solidFill>
            <a:schemeClr val="accent2"/>
          </a:solidFill>
          <a:ln/>
        </p:spPr>
      </p:sp>
      <p:sp>
        <p:nvSpPr>
          <p:cNvPr id="5" name="demo 1 texto"/>
          <p:cNvSpPr txBox="1"/>
          <p:nvPr/>
        </p:nvSpPr>
        <p:spPr>
          <a:xfrm>
            <a:off x="548640" y="3246120"/>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demo texto 1"/>
          <p:cNvSpPr txBox="1"/>
          <p:nvPr/>
        </p:nvSpPr>
        <p:spPr>
          <a:xfrm>
            <a:off x="1005840" y="3264408"/>
            <a:ext cx="7589520" cy="274320"/>
          </a:xfrm>
          <a:prstGeom prst="rect">
            <a:avLst/>
          </a:prstGeom>
          <a:noFill/>
          <a:ln/>
        </p:spPr>
        <p:txBody>
          <a:bodyPr wrap="square" lIns="0" tIns="0" rIns="0" bIns="0" rtlCol="0" anchor="t"/>
          <a:lstStyle/>
          <a:p>
            <a:pPr indent="0" marL="0">
              <a:buNone/>
            </a:pPr>
            <a:r>
              <a:rPr lang="en-US" sz="1500" dirty="0">
                <a:solidFill>
                  <a:schemeClr val="bg1"/>
                </a:solidFill>
              </a:rPr>
              <a:t>Estudiante completa un curso → certificado y aviso</a:t>
            </a:r>
            <a:endParaRPr lang="en-US" sz="1500" dirty="0"/>
          </a:p>
        </p:txBody>
      </p:sp>
      <p:sp>
        <p:nvSpPr>
          <p:cNvPr id="7" name="demo 2"/>
          <p:cNvSpPr/>
          <p:nvPr/>
        </p:nvSpPr>
        <p:spPr>
          <a:xfrm>
            <a:off x="548640" y="3630168"/>
            <a:ext cx="292608" cy="292608"/>
          </a:xfrm>
          <a:prstGeom prst="ellipse">
            <a:avLst/>
          </a:prstGeom>
          <a:solidFill>
            <a:schemeClr val="accent2"/>
          </a:solidFill>
          <a:ln/>
        </p:spPr>
      </p:sp>
      <p:sp>
        <p:nvSpPr>
          <p:cNvPr id="8" name="demo 2 texto"/>
          <p:cNvSpPr txBox="1"/>
          <p:nvPr/>
        </p:nvSpPr>
        <p:spPr>
          <a:xfrm>
            <a:off x="548640" y="3630168"/>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demo texto 2"/>
          <p:cNvSpPr txBox="1"/>
          <p:nvPr/>
        </p:nvSpPr>
        <p:spPr>
          <a:xfrm>
            <a:off x="1005840" y="3648456"/>
            <a:ext cx="7589520" cy="274320"/>
          </a:xfrm>
          <a:prstGeom prst="rect">
            <a:avLst/>
          </a:prstGeom>
          <a:noFill/>
          <a:ln/>
        </p:spPr>
        <p:txBody>
          <a:bodyPr wrap="square" lIns="0" tIns="0" rIns="0" bIns="0" rtlCol="0" anchor="t"/>
          <a:lstStyle/>
          <a:p>
            <a:pPr indent="0" marL="0">
              <a:buNone/>
            </a:pPr>
            <a:r>
              <a:rPr lang="en-US" sz="1500" dirty="0">
                <a:solidFill>
                  <a:schemeClr val="bg1"/>
                </a:solidFill>
              </a:rPr>
              <a:t>Campaña de 200 participantes → la cola sube y baja</a:t>
            </a:r>
            <a:endParaRPr lang="en-US" sz="1500" dirty="0"/>
          </a:p>
        </p:txBody>
      </p:sp>
      <p:sp>
        <p:nvSpPr>
          <p:cNvPr id="10" name="demo 3"/>
          <p:cNvSpPr/>
          <p:nvPr/>
        </p:nvSpPr>
        <p:spPr>
          <a:xfrm>
            <a:off x="548640" y="4014216"/>
            <a:ext cx="292608" cy="292608"/>
          </a:xfrm>
          <a:prstGeom prst="ellipse">
            <a:avLst/>
          </a:prstGeom>
          <a:solidFill>
            <a:schemeClr val="accent2"/>
          </a:solidFill>
          <a:ln/>
        </p:spPr>
      </p:sp>
      <p:sp>
        <p:nvSpPr>
          <p:cNvPr id="11" name="demo 3 texto"/>
          <p:cNvSpPr txBox="1"/>
          <p:nvPr/>
        </p:nvSpPr>
        <p:spPr>
          <a:xfrm>
            <a:off x="548640" y="4014216"/>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demo texto 3"/>
          <p:cNvSpPr txBox="1"/>
          <p:nvPr/>
        </p:nvSpPr>
        <p:spPr>
          <a:xfrm>
            <a:off x="1005840" y="4032504"/>
            <a:ext cx="7589520" cy="274320"/>
          </a:xfrm>
          <a:prstGeom prst="rect">
            <a:avLst/>
          </a:prstGeom>
          <a:noFill/>
          <a:ln/>
        </p:spPr>
        <p:txBody>
          <a:bodyPr wrap="square" lIns="0" tIns="0" rIns="0" bIns="0" rtlCol="0" anchor="t"/>
          <a:lstStyle/>
          <a:p>
            <a:pPr indent="0" marL="0">
              <a:buNone/>
            </a:pPr>
            <a:r>
              <a:rPr lang="en-US" sz="1500" dirty="0">
                <a:solidFill>
                  <a:schemeClr val="bg1"/>
                </a:solidFill>
              </a:rPr>
              <a:t>Se apaga certificados → circuito abierto, cursos sigue</a:t>
            </a:r>
            <a:endParaRPr lang="en-US" sz="1500" dirty="0"/>
          </a:p>
        </p:txBody>
      </p:sp>
      <p:sp>
        <p:nvSpPr>
          <p:cNvPr id="13" name="demo 4"/>
          <p:cNvSpPr/>
          <p:nvPr/>
        </p:nvSpPr>
        <p:spPr>
          <a:xfrm>
            <a:off x="548640" y="4398264"/>
            <a:ext cx="292608" cy="292608"/>
          </a:xfrm>
          <a:prstGeom prst="ellipse">
            <a:avLst/>
          </a:prstGeom>
          <a:solidFill>
            <a:schemeClr val="accent2"/>
          </a:solidFill>
          <a:ln/>
        </p:spPr>
      </p:sp>
      <p:sp>
        <p:nvSpPr>
          <p:cNvPr id="14" name="demo 4 texto"/>
          <p:cNvSpPr txBox="1"/>
          <p:nvPr/>
        </p:nvSpPr>
        <p:spPr>
          <a:xfrm>
            <a:off x="548640" y="4398264"/>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demo texto 4"/>
          <p:cNvSpPr txBox="1"/>
          <p:nvPr/>
        </p:nvSpPr>
        <p:spPr>
          <a:xfrm>
            <a:off x="1005840" y="4416552"/>
            <a:ext cx="7589520" cy="274320"/>
          </a:xfrm>
          <a:prstGeom prst="rect">
            <a:avLst/>
          </a:prstGeom>
          <a:noFill/>
          <a:ln/>
        </p:spPr>
        <p:txBody>
          <a:bodyPr wrap="square" lIns="0" tIns="0" rIns="0" bIns="0" rtlCol="0" anchor="t"/>
          <a:lstStyle/>
          <a:p>
            <a:pPr indent="0" marL="0">
              <a:buNone/>
            </a:pPr>
            <a:r>
              <a:rPr lang="en-US" sz="1500" dirty="0">
                <a:solidFill>
                  <a:schemeClr val="bg1"/>
                </a:solidFill>
              </a:rPr>
              <a:t>Se vuelve a encender → el evento pendiente se procesa</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Los escenarios se cumplen con mediciones reales</a:t>
            </a:r>
            <a:endParaRPr lang="en-US" sz="3000" dirty="0"/>
          </a:p>
        </p:txBody>
      </p:sp>
      <p:sp>
        <p:nvSpPr>
          <p:cNvPr id="3" name="resultado 1"/>
          <p:cNvSpPr/>
          <p:nvPr/>
        </p:nvSpPr>
        <p:spPr>
          <a:xfrm>
            <a:off x="457200" y="1234440"/>
            <a:ext cx="1938528" cy="2606040"/>
          </a:xfrm>
          <a:prstGeom prst="roundRect">
            <a:avLst>
              <a:gd name="adj" fmla="val 3774"/>
            </a:avLst>
          </a:prstGeom>
          <a:solidFill>
            <a:schemeClr val="bg2"/>
          </a:solidFill>
          <a:ln/>
        </p:spPr>
      </p:sp>
      <p:sp>
        <p:nvSpPr>
          <p:cNvPr id="4" name="cifra resultado 1"/>
          <p:cNvSpPr txBox="1"/>
          <p:nvPr/>
        </p:nvSpPr>
        <p:spPr>
          <a:xfrm>
            <a:off x="621792" y="1417320"/>
            <a:ext cx="1645920" cy="777240"/>
          </a:xfrm>
          <a:prstGeom prst="rect">
            <a:avLst/>
          </a:prstGeom>
          <a:noFill/>
          <a:ln/>
        </p:spPr>
        <p:txBody>
          <a:bodyPr wrap="square" lIns="0" tIns="0" rIns="0" bIns="0" rtlCol="0" anchor="t"/>
          <a:lstStyle/>
          <a:p>
            <a:pPr indent="0" marL="0">
              <a:buNone/>
            </a:pPr>
            <a:r>
              <a:rPr lang="en-US" sz="3600" b="1" dirty="0">
                <a:solidFill>
                  <a:schemeClr val="accent1"/>
                </a:solidFill>
              </a:rPr>
              <a:t>195 ms</a:t>
            </a:r>
            <a:endParaRPr lang="en-US" sz="3600" dirty="0"/>
          </a:p>
        </p:txBody>
      </p:sp>
      <p:sp>
        <p:nvSpPr>
          <p:cNvPr id="5" name="desc resultado 1"/>
          <p:cNvSpPr txBox="1"/>
          <p:nvPr/>
        </p:nvSpPr>
        <p:spPr>
          <a:xfrm>
            <a:off x="621792" y="2240280"/>
            <a:ext cx="1645920" cy="1143000"/>
          </a:xfrm>
          <a:prstGeom prst="rect">
            <a:avLst/>
          </a:prstGeom>
          <a:noFill/>
          <a:ln/>
        </p:spPr>
        <p:txBody>
          <a:bodyPr wrap="square" lIns="0" tIns="0" rIns="0" bIns="0" rtlCol="0" anchor="t"/>
          <a:lstStyle/>
          <a:p>
            <a:pPr indent="0" marL="0">
              <a:buNone/>
            </a:pPr>
            <a:r>
              <a:rPr lang="en-US" sz="1300" dirty="0">
                <a:solidFill>
                  <a:schemeClr val="tx1"/>
                </a:solidFill>
              </a:rPr>
              <a:t>respuesta a una campaña de 40; 200 certificados sin errores</a:t>
            </a:r>
            <a:endParaRPr lang="en-US" sz="1300" dirty="0"/>
          </a:p>
        </p:txBody>
      </p:sp>
      <p:sp>
        <p:nvSpPr>
          <p:cNvPr id="6" name="rnf resultado 1"/>
          <p:cNvSpPr txBox="1"/>
          <p:nvPr/>
        </p:nvSpPr>
        <p:spPr>
          <a:xfrm>
            <a:off x="621792" y="3429000"/>
            <a:ext cx="1645920" cy="274320"/>
          </a:xfrm>
          <a:prstGeom prst="rect">
            <a:avLst/>
          </a:prstGeom>
          <a:noFill/>
          <a:ln/>
        </p:spPr>
        <p:txBody>
          <a:bodyPr wrap="square" lIns="0" tIns="0" rIns="0" bIns="0" rtlCol="0" anchor="t"/>
          <a:lstStyle/>
          <a:p>
            <a:pPr indent="0" marL="0">
              <a:buNone/>
            </a:pPr>
            <a:r>
              <a:rPr lang="en-US" sz="1100" b="1" dirty="0">
                <a:solidFill>
                  <a:schemeClr val="accent5"/>
                </a:solidFill>
              </a:rPr>
              <a:t>RNF01</a:t>
            </a:r>
            <a:endParaRPr lang="en-US" sz="1100" dirty="0"/>
          </a:p>
        </p:txBody>
      </p:sp>
      <p:sp>
        <p:nvSpPr>
          <p:cNvPr id="7" name="resultado 2"/>
          <p:cNvSpPr/>
          <p:nvPr/>
        </p:nvSpPr>
        <p:spPr>
          <a:xfrm>
            <a:off x="2542032" y="1234440"/>
            <a:ext cx="1938528" cy="2606040"/>
          </a:xfrm>
          <a:prstGeom prst="roundRect">
            <a:avLst>
              <a:gd name="adj" fmla="val 3774"/>
            </a:avLst>
          </a:prstGeom>
          <a:solidFill>
            <a:schemeClr val="bg2"/>
          </a:solidFill>
          <a:ln/>
        </p:spPr>
      </p:sp>
      <p:sp>
        <p:nvSpPr>
          <p:cNvPr id="8" name="cifra resultado 2"/>
          <p:cNvSpPr txBox="1"/>
          <p:nvPr/>
        </p:nvSpPr>
        <p:spPr>
          <a:xfrm>
            <a:off x="2706624" y="1417320"/>
            <a:ext cx="1645920" cy="777240"/>
          </a:xfrm>
          <a:prstGeom prst="rect">
            <a:avLst/>
          </a:prstGeom>
          <a:noFill/>
          <a:ln/>
        </p:spPr>
        <p:txBody>
          <a:bodyPr wrap="square" lIns="0" tIns="0" rIns="0" bIns="0" rtlCol="0" anchor="t"/>
          <a:lstStyle/>
          <a:p>
            <a:pPr indent="0" marL="0">
              <a:buNone/>
            </a:pPr>
            <a:r>
              <a:rPr lang="en-US" sz="3600" b="1" dirty="0">
                <a:solidFill>
                  <a:schemeClr val="accent1"/>
                </a:solidFill>
              </a:rPr>
              <a:t>110 ms</a:t>
            </a:r>
            <a:endParaRPr lang="en-US" sz="3600" dirty="0"/>
          </a:p>
        </p:txBody>
      </p:sp>
      <p:sp>
        <p:nvSpPr>
          <p:cNvPr id="9" name="desc resultado 2"/>
          <p:cNvSpPr txBox="1"/>
          <p:nvPr/>
        </p:nvSpPr>
        <p:spPr>
          <a:xfrm>
            <a:off x="2706624" y="2240280"/>
            <a:ext cx="1645920" cy="1143000"/>
          </a:xfrm>
          <a:prstGeom prst="rect">
            <a:avLst/>
          </a:prstGeom>
          <a:noFill/>
          <a:ln/>
        </p:spPr>
        <p:txBody>
          <a:bodyPr wrap="square" lIns="0" tIns="0" rIns="0" bIns="0" rtlCol="0" anchor="t"/>
          <a:lstStyle/>
          <a:p>
            <a:pPr indent="0" marL="0">
              <a:buNone/>
            </a:pPr>
            <a:r>
              <a:rPr lang="en-US" sz="1300" dirty="0">
                <a:solidFill>
                  <a:schemeClr val="tx1"/>
                </a:solidFill>
              </a:rPr>
              <a:t>respuesta con certificados caído y el circuito abierto</a:t>
            </a:r>
            <a:endParaRPr lang="en-US" sz="1300" dirty="0"/>
          </a:p>
        </p:txBody>
      </p:sp>
      <p:sp>
        <p:nvSpPr>
          <p:cNvPr id="10" name="rnf resultado 2"/>
          <p:cNvSpPr txBox="1"/>
          <p:nvPr/>
        </p:nvSpPr>
        <p:spPr>
          <a:xfrm>
            <a:off x="2706624" y="3429000"/>
            <a:ext cx="1645920" cy="274320"/>
          </a:xfrm>
          <a:prstGeom prst="rect">
            <a:avLst/>
          </a:prstGeom>
          <a:noFill/>
          <a:ln/>
        </p:spPr>
        <p:txBody>
          <a:bodyPr wrap="square" lIns="0" tIns="0" rIns="0" bIns="0" rtlCol="0" anchor="t"/>
          <a:lstStyle/>
          <a:p>
            <a:pPr indent="0" marL="0">
              <a:buNone/>
            </a:pPr>
            <a:r>
              <a:rPr lang="en-US" sz="1100" b="1" dirty="0">
                <a:solidFill>
                  <a:schemeClr val="accent5"/>
                </a:solidFill>
              </a:rPr>
              <a:t>RNF03</a:t>
            </a:r>
            <a:endParaRPr lang="en-US" sz="1100" dirty="0"/>
          </a:p>
        </p:txBody>
      </p:sp>
      <p:sp>
        <p:nvSpPr>
          <p:cNvPr id="11" name="resultado 3"/>
          <p:cNvSpPr/>
          <p:nvPr/>
        </p:nvSpPr>
        <p:spPr>
          <a:xfrm>
            <a:off x="4626864" y="1234440"/>
            <a:ext cx="1938528" cy="2606040"/>
          </a:xfrm>
          <a:prstGeom prst="roundRect">
            <a:avLst>
              <a:gd name="adj" fmla="val 3774"/>
            </a:avLst>
          </a:prstGeom>
          <a:solidFill>
            <a:schemeClr val="bg2"/>
          </a:solidFill>
          <a:ln/>
        </p:spPr>
      </p:sp>
      <p:sp>
        <p:nvSpPr>
          <p:cNvPr id="12" name="cifra resultado 3"/>
          <p:cNvSpPr txBox="1"/>
          <p:nvPr/>
        </p:nvSpPr>
        <p:spPr>
          <a:xfrm>
            <a:off x="4791456" y="1417320"/>
            <a:ext cx="1645920" cy="777240"/>
          </a:xfrm>
          <a:prstGeom prst="rect">
            <a:avLst/>
          </a:prstGeom>
          <a:noFill/>
          <a:ln/>
        </p:spPr>
        <p:txBody>
          <a:bodyPr wrap="square" lIns="0" tIns="0" rIns="0" bIns="0" rtlCol="0" anchor="t"/>
          <a:lstStyle/>
          <a:p>
            <a:pPr indent="0" marL="0">
              <a:buNone/>
            </a:pPr>
            <a:r>
              <a:rPr lang="en-US" sz="3600" b="1" dirty="0">
                <a:solidFill>
                  <a:schemeClr val="accent1"/>
                </a:solidFill>
              </a:rPr>
              <a:t>0</a:t>
            </a:r>
            <a:endParaRPr lang="en-US" sz="3600" dirty="0"/>
          </a:p>
        </p:txBody>
      </p:sp>
      <p:sp>
        <p:nvSpPr>
          <p:cNvPr id="13" name="desc resultado 3"/>
          <p:cNvSpPr txBox="1"/>
          <p:nvPr/>
        </p:nvSpPr>
        <p:spPr>
          <a:xfrm>
            <a:off x="4791456" y="2240280"/>
            <a:ext cx="1645920" cy="1143000"/>
          </a:xfrm>
          <a:prstGeom prst="rect">
            <a:avLst/>
          </a:prstGeom>
          <a:noFill/>
          <a:ln/>
        </p:spPr>
        <p:txBody>
          <a:bodyPr wrap="square" lIns="0" tIns="0" rIns="0" bIns="0" rtlCol="0" anchor="t"/>
          <a:lstStyle/>
          <a:p>
            <a:pPr indent="0" marL="0">
              <a:buNone/>
            </a:pPr>
            <a:r>
              <a:rPr lang="en-US" sz="1300" dirty="0">
                <a:solidFill>
                  <a:schemeClr val="tx1"/>
                </a:solidFill>
              </a:rPr>
              <a:t>certificados perdidos con el trabajador apagado</a:t>
            </a:r>
            <a:endParaRPr lang="en-US" sz="1300" dirty="0"/>
          </a:p>
        </p:txBody>
      </p:sp>
      <p:sp>
        <p:nvSpPr>
          <p:cNvPr id="14" name="rnf resultado 3"/>
          <p:cNvSpPr txBox="1"/>
          <p:nvPr/>
        </p:nvSpPr>
        <p:spPr>
          <a:xfrm>
            <a:off x="4791456" y="3429000"/>
            <a:ext cx="1645920" cy="274320"/>
          </a:xfrm>
          <a:prstGeom prst="rect">
            <a:avLst/>
          </a:prstGeom>
          <a:noFill/>
          <a:ln/>
        </p:spPr>
        <p:txBody>
          <a:bodyPr wrap="square" lIns="0" tIns="0" rIns="0" bIns="0" rtlCol="0" anchor="t"/>
          <a:lstStyle/>
          <a:p>
            <a:pPr indent="0" marL="0">
              <a:buNone/>
            </a:pPr>
            <a:r>
              <a:rPr lang="en-US" sz="1100" b="1" dirty="0">
                <a:solidFill>
                  <a:schemeClr val="accent5"/>
                </a:solidFill>
              </a:rPr>
              <a:t>RNF04</a:t>
            </a:r>
            <a:endParaRPr lang="en-US" sz="1100" dirty="0"/>
          </a:p>
        </p:txBody>
      </p:sp>
      <p:sp>
        <p:nvSpPr>
          <p:cNvPr id="15" name="resultado 4"/>
          <p:cNvSpPr/>
          <p:nvPr/>
        </p:nvSpPr>
        <p:spPr>
          <a:xfrm>
            <a:off x="6711696" y="1234440"/>
            <a:ext cx="1938528" cy="2606040"/>
          </a:xfrm>
          <a:prstGeom prst="roundRect">
            <a:avLst>
              <a:gd name="adj" fmla="val 3774"/>
            </a:avLst>
          </a:prstGeom>
          <a:solidFill>
            <a:schemeClr val="bg2"/>
          </a:solidFill>
          <a:ln/>
        </p:spPr>
      </p:sp>
      <p:sp>
        <p:nvSpPr>
          <p:cNvPr id="16" name="cifra resultado 4"/>
          <p:cNvSpPr txBox="1"/>
          <p:nvPr/>
        </p:nvSpPr>
        <p:spPr>
          <a:xfrm>
            <a:off x="6876288" y="1417320"/>
            <a:ext cx="1645920" cy="777240"/>
          </a:xfrm>
          <a:prstGeom prst="rect">
            <a:avLst/>
          </a:prstGeom>
          <a:noFill/>
          <a:ln/>
        </p:spPr>
        <p:txBody>
          <a:bodyPr wrap="square" lIns="0" tIns="0" rIns="0" bIns="0" rtlCol="0" anchor="t"/>
          <a:lstStyle/>
          <a:p>
            <a:pPr indent="0" marL="0">
              <a:buNone/>
            </a:pPr>
            <a:r>
              <a:rPr lang="en-US" sz="3600" b="1" dirty="0">
                <a:solidFill>
                  <a:schemeClr val="accent1"/>
                </a:solidFill>
              </a:rPr>
              <a:t>28</a:t>
            </a:r>
            <a:endParaRPr lang="en-US" sz="3600" dirty="0"/>
          </a:p>
        </p:txBody>
      </p:sp>
      <p:sp>
        <p:nvSpPr>
          <p:cNvPr id="17" name="desc resultado 4"/>
          <p:cNvSpPr txBox="1"/>
          <p:nvPr/>
        </p:nvSpPr>
        <p:spPr>
          <a:xfrm>
            <a:off x="6876288" y="2240280"/>
            <a:ext cx="1645920" cy="1143000"/>
          </a:xfrm>
          <a:prstGeom prst="rect">
            <a:avLst/>
          </a:prstGeom>
          <a:noFill/>
          <a:ln/>
        </p:spPr>
        <p:txBody>
          <a:bodyPr wrap="square" lIns="0" tIns="0" rIns="0" bIns="0" rtlCol="0" anchor="t"/>
          <a:lstStyle/>
          <a:p>
            <a:pPr indent="0" marL="0">
              <a:buNone/>
            </a:pPr>
            <a:r>
              <a:rPr lang="en-US" sz="1300" dirty="0">
                <a:solidFill>
                  <a:schemeClr val="tx1"/>
                </a:solidFill>
              </a:rPr>
              <a:t>pruebas automatizadas en x86 y arm64, más prueba de humo</a:t>
            </a:r>
            <a:endParaRPr lang="en-US" sz="1300" dirty="0"/>
          </a:p>
        </p:txBody>
      </p:sp>
      <p:sp>
        <p:nvSpPr>
          <p:cNvPr id="18" name="rnf resultado 4"/>
          <p:cNvSpPr txBox="1"/>
          <p:nvPr/>
        </p:nvSpPr>
        <p:spPr>
          <a:xfrm>
            <a:off x="6876288" y="3429000"/>
            <a:ext cx="1645920" cy="274320"/>
          </a:xfrm>
          <a:prstGeom prst="rect">
            <a:avLst/>
          </a:prstGeom>
          <a:noFill/>
          <a:ln/>
        </p:spPr>
        <p:txBody>
          <a:bodyPr wrap="square" lIns="0" tIns="0" rIns="0" bIns="0" rtlCol="0" anchor="t"/>
          <a:lstStyle/>
          <a:p>
            <a:pPr indent="0" marL="0">
              <a:buNone/>
            </a:pPr>
            <a:r>
              <a:rPr lang="en-US" sz="1100" b="1" dirty="0">
                <a:solidFill>
                  <a:schemeClr val="accent5"/>
                </a:solidFill>
              </a:rPr>
              <a:t>Calidad</a:t>
            </a:r>
            <a:endParaRPr lang="en-US" sz="1100" dirty="0"/>
          </a:p>
        </p:txBody>
      </p:sp>
      <p:sp>
        <p:nvSpPr>
          <p:cNvPr id="19" name="comparacion"/>
          <p:cNvSpPr txBox="1"/>
          <p:nvPr/>
        </p:nvSpPr>
        <p:spPr>
          <a:xfrm>
            <a:off x="457200" y="4069080"/>
            <a:ext cx="8229600" cy="502920"/>
          </a:xfrm>
          <a:prstGeom prst="rect">
            <a:avLst/>
          </a:prstGeom>
          <a:noFill/>
          <a:ln/>
        </p:spPr>
        <p:txBody>
          <a:bodyPr wrap="square" lIns="0" tIns="0" rIns="0" bIns="0" rtlCol="0" anchor="t"/>
          <a:lstStyle/>
          <a:p>
            <a:pPr indent="0" marL="0">
              <a:buNone/>
            </a:pPr>
            <a:r>
              <a:rPr lang="en-US" sz="1500" i="1" dirty="0">
                <a:solidFill>
                  <a:schemeClr val="tx1"/>
                </a:solidFill>
              </a:rPr>
              <a:t>Antes: 40 minutos sin servicio y 8–25 s por curso. Ahora: el pico queda en la cola y el resto de la plataforma no lo siente.</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rPr>
              <a:t>Conclusiones</a:t>
            </a:r>
            <a:endParaRPr lang="en-US" sz="4800" dirty="0"/>
          </a:p>
        </p:txBody>
      </p:sp>
      <p:sp>
        <p:nvSpPr>
          <p:cNvPr id="3" name="Text 0"/>
          <p:cNvSpPr/>
          <p:nvPr>
            <p:ph idx="101" type="body" hasCustomPrompt="1"/>
          </p:nvPr>
        </p:nvSpPr>
        <p:spPr>
          <a:xfrm>
            <a:off x="548640" y="2514600"/>
            <a:ext cx="7498080" cy="914400"/>
          </a:xfrm>
          <a:prstGeom prst="rect">
            <a:avLst/>
          </a:prstGeom>
          <a:noFill/>
          <a:ln/>
        </p:spPr>
        <p:txBody>
          <a:bodyPr wrap="square" lIns="0" tIns="0" rIns="0" bIns="0" rtlCol="0" anchor="t"/>
          <a:lstStyle/>
          <a:p>
            <a:pPr indent="0" marL="0">
              <a:buNone/>
            </a:pPr>
            <a:r>
              <a:rPr lang="en-US" sz="1800" dirty="0">
                <a:solidFill>
                  <a:schemeClr val="accent6"/>
                </a:solidFill>
              </a:rPr>
              <a:t>El problema era de arquitectura, no de código.</a:t>
            </a:r>
            <a:endParaRPr lang="en-US" sz="1800" dirty="0"/>
          </a:p>
        </p:txBody>
      </p:sp>
      <p:sp>
        <p:nvSpPr>
          <p:cNvPr id="4" name="conclusion 1"/>
          <p:cNvSpPr txBox="1"/>
          <p:nvPr/>
        </p:nvSpPr>
        <p:spPr>
          <a:xfrm>
            <a:off x="548640" y="3154680"/>
            <a:ext cx="8046720" cy="292608"/>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Escenarios medibles → patrones elegidos con criterio y comprobados</a:t>
            </a:r>
            <a:endParaRPr lang="en-US" sz="1400" dirty="0"/>
          </a:p>
        </p:txBody>
      </p:sp>
      <p:sp>
        <p:nvSpPr>
          <p:cNvPr id="5" name="conclusion 2"/>
          <p:cNvSpPr txBox="1"/>
          <p:nvPr/>
        </p:nvSpPr>
        <p:spPr>
          <a:xfrm>
            <a:off x="548640" y="3483864"/>
            <a:ext cx="8046720" cy="292608"/>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Cohesión, acoplamiento y ocultamiento se volvieron decisiones concretas</a:t>
            </a:r>
            <a:endParaRPr lang="en-US" sz="1400" dirty="0"/>
          </a:p>
        </p:txBody>
      </p:sp>
      <p:sp>
        <p:nvSpPr>
          <p:cNvPr id="6" name="conclusion 3"/>
          <p:cNvSpPr txBox="1"/>
          <p:nvPr/>
        </p:nvSpPr>
        <p:spPr>
          <a:xfrm>
            <a:off x="548640" y="3813048"/>
            <a:ext cx="8046720" cy="292608"/>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La asincronía cuesta: consistencia eventual y consumidores idempotentes</a:t>
            </a:r>
            <a:endParaRPr lang="en-US" sz="1400" dirty="0"/>
          </a:p>
        </p:txBody>
      </p:sp>
      <p:sp>
        <p:nvSpPr>
          <p:cNvPr id="7" name="conclusion 4"/>
          <p:cNvSpPr txBox="1"/>
          <p:nvPr/>
        </p:nvSpPr>
        <p:spPr>
          <a:xfrm>
            <a:off x="548640" y="4142232"/>
            <a:ext cx="8046720" cy="292608"/>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Todo corre en la capa gratuita de OCI, con TLS, escalado y segmentación</a:t>
            </a:r>
            <a:endParaRPr lang="en-US" sz="1400" dirty="0"/>
          </a:p>
        </p:txBody>
      </p:sp>
      <p:sp>
        <p:nvSpPr>
          <p:cNvPr id="8" name="enlaces"/>
          <p:cNvSpPr txBox="1"/>
          <p:nvPr/>
        </p:nvSpPr>
        <p:spPr>
          <a:xfrm>
            <a:off x="548640" y="4572000"/>
            <a:ext cx="8046720" cy="274320"/>
          </a:xfrm>
          <a:prstGeom prst="rect">
            <a:avLst/>
          </a:prstGeom>
          <a:noFill/>
          <a:ln/>
        </p:spPr>
        <p:txBody>
          <a:bodyPr wrap="square" lIns="0" tIns="0" rIns="0" bIns="0" rtlCol="0" anchor="t"/>
          <a:lstStyle/>
          <a:p>
            <a:pPr indent="0" marL="0">
              <a:buNone/>
            </a:pPr>
            <a:r>
              <a:rPr lang="en-US" sz="1200" dirty="0">
                <a:solidFill>
                  <a:schemeClr val="accent6"/>
                </a:solidFill>
              </a:rPr>
              <a:t>github.com/augustocco/aulanube · aulanube.149-130-191-139.sslip.io</a:t>
            </a:r>
            <a:endParaRPr lang="en-US" sz="1200" dirty="0"/>
          </a:p>
        </p:txBody>
      </p:sp>
    </p:spTree>
  </p:cSld>
  <p:clrMapOvr>
    <a:masterClrMapping/>
  </p:clrMapOvr>
</p:sld>
</file>

<file path=ppt/theme/theme1.xml><?xml version="1.0" encoding="utf-8"?>
<a:theme xmlns:a="http://schemas.openxmlformats.org/drawingml/2006/main" name="AulaNube">
  <a:themeElements>
    <a:clrScheme name="AulaNube">
      <a:dk1>
        <a:srgbClr val="16323A"/>
      </a:dk1>
      <a:lt1>
        <a:srgbClr val="FFFFFF"/>
      </a:lt1>
      <a:dk2>
        <a:srgbClr val="0E4A45"/>
      </a:dk2>
      <a:lt2>
        <a:srgbClr val="EEF5F4"/>
      </a:lt2>
      <a:accent1>
        <a:srgbClr val="0F766E"/>
      </a:accent1>
      <a:accent2>
        <a:srgbClr val="D97706"/>
      </a:accent2>
      <a:accent3>
        <a:srgbClr val="B42318"/>
      </a:accent3>
      <a:accent4>
        <a:srgbClr val="15803D"/>
      </a:accent4>
      <a:accent5>
        <a:srgbClr val="5B6B70"/>
      </a:accent5>
      <a:accent6>
        <a:srgbClr val="D5EAE7"/>
      </a:accent6>
      <a:hlink>
        <a:srgbClr val="0F766E"/>
      </a:hlink>
      <a:folHlink>
        <a:srgbClr val="5B6B70"/>
      </a:folHlink>
    </a:clrScheme>
    <a:fontScheme name="AulaNub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AulaNube · Arquitectura de Software</dc:title>
  <dc:subject>PptxGenJS Presentation</dc:subject>
  <dc:creator>Augusto César Cañola Ortiz</dc:creator>
  <cp:lastModifiedBy>Augusto César Cañola Ortiz</cp:lastModifiedBy>
  <cp:revision>1</cp:revision>
  <dcterms:created xsi:type="dcterms:W3CDTF">2026-10-23T01:33:28Z</dcterms:created>
  <dcterms:modified xsi:type="dcterms:W3CDTF">2026-10-23T01:33:28Z</dcterms:modified>
</cp:coreProperties>
</file>